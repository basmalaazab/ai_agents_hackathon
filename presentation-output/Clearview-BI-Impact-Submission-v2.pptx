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23dc1ca3c6a4c6c" /><Relationship Type="http://schemas.openxmlformats.org/officeDocument/2006/relationships/extended-properties" Target="/docProps/app.xml" Id="R8a9fa720b0014264" /><Relationship Type="http://schemas.openxmlformats.org/officeDocument/2006/relationships/officeDocument" Target="/ppt/presentation.xml" Id="Rca738667fbec469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03e1c7d72354db7"/>
  </p:sldMasterIdLst>
  <p:notesMasterIdLst>
    <p:notesMasterId xmlns:r="http://schemas.openxmlformats.org/officeDocument/2006/relationships" r:id="R1a01cc0953ae4cb4"/>
  </p:notesMasterIdLst>
  <p:sldIdLst>
    <p:sldId xmlns:r="http://schemas.openxmlformats.org/officeDocument/2006/relationships" id="256" r:id="R2ef6fbc185ff415b"/>
    <p:sldId xmlns:r="http://schemas.openxmlformats.org/officeDocument/2006/relationships" id="257" r:id="R7c83d3f515de45f8"/>
    <p:sldId xmlns:r="http://schemas.openxmlformats.org/officeDocument/2006/relationships" id="258" r:id="R105189ee941b4ad8"/>
    <p:sldId xmlns:r="http://schemas.openxmlformats.org/officeDocument/2006/relationships" id="259" r:id="R45b9ab18bda949dc"/>
    <p:sldId xmlns:r="http://schemas.openxmlformats.org/officeDocument/2006/relationships" id="260" r:id="Ra87e5fe504654f01"/>
    <p:sldId xmlns:r="http://schemas.openxmlformats.org/officeDocument/2006/relationships" id="261" r:id="Rfb4d04e437824840"/>
    <p:sldId xmlns:r="http://schemas.openxmlformats.org/officeDocument/2006/relationships" id="262" r:id="R4c9f531f419f4e05"/>
  </p:sldIdLst>
  <p:sldSz cx="12192000" cy="6858000"/>
  <p:notesSz cx="6858000" cy="9144000"/>
  <p:defaultTextStyle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2862ee8f16e4ffa" /><Relationship Type="http://schemas.openxmlformats.org/officeDocument/2006/relationships/slideMaster" Target="/ppt/slideMasters/slideMaster1.xml" Id="R203e1c7d72354db7" /><Relationship Type="http://schemas.openxmlformats.org/officeDocument/2006/relationships/notesMaster" Target="/ppt/notesMasters/notesMaster1.xml" Id="R1a01cc0953ae4cb4" /><Relationship Type="http://schemas.openxmlformats.org/officeDocument/2006/relationships/presProps" Target="/ppt/presProps.xml" Id="R7f6909d618df4afa" /><Relationship Type="http://schemas.openxmlformats.org/officeDocument/2006/relationships/viewProps" Target="/ppt/viewProps.xml" Id="R42f2efe1af2e46a4" /><Relationship Type="http://schemas.openxmlformats.org/officeDocument/2006/relationships/tableStyles" Target="/ppt/tableStyles.xml" Id="R58f1bbea4ac247f3" /><Relationship Type="http://schemas.openxmlformats.org/officeDocument/2006/relationships/slide" Target="/ppt/slides/slide1.xml" Id="R2ef6fbc185ff415b" /><Relationship Type="http://schemas.openxmlformats.org/officeDocument/2006/relationships/slide" Target="/ppt/slides/slide2.xml" Id="R7c83d3f515de45f8" /><Relationship Type="http://schemas.openxmlformats.org/officeDocument/2006/relationships/slide" Target="/ppt/slides/slide3.xml" Id="R105189ee941b4ad8" /><Relationship Type="http://schemas.openxmlformats.org/officeDocument/2006/relationships/slide" Target="/ppt/slides/slide4.xml" Id="R45b9ab18bda949dc" /><Relationship Type="http://schemas.openxmlformats.org/officeDocument/2006/relationships/slide" Target="/ppt/slides/slide5.xml" Id="Ra87e5fe504654f01" /><Relationship Type="http://schemas.openxmlformats.org/officeDocument/2006/relationships/slide" Target="/ppt/slides/slide6.xml" Id="Rfb4d04e437824840" /><Relationship Type="http://schemas.openxmlformats.org/officeDocument/2006/relationships/slide" Target="/ppt/slides/slide7.xml" Id="R4c9f531f419f4e0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1ba5c2216324da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learview BI Emerald">
  <a:themeElements>
    <a:clrScheme name="Clearview BI Emerald">
      <a:dk1>
        <a:srgbClr val="0B2B26"/>
      </a:dk1>
      <a:lt1>
        <a:srgbClr val="FFFFFF"/>
      </a:lt1>
      <a:dk2>
        <a:srgbClr val="13403B"/>
      </a:dk2>
      <a:lt2>
        <a:srgbClr val="F6F8F5"/>
      </a:lt2>
      <a:accent1>
        <a:srgbClr val="0F7A58"/>
      </a:accent1>
      <a:accent2>
        <a:srgbClr val="E8B04B"/>
      </a:accent2>
      <a:accent3>
        <a:srgbClr val="34D399"/>
      </a:accent3>
      <a:accent4>
        <a:srgbClr val="10B981"/>
      </a:accent4>
      <a:accent5>
        <a:srgbClr val="F87171"/>
      </a:accent5>
      <a:accent6>
        <a:srgbClr val="5E6F69"/>
      </a:accent6>
      <a:hlink>
        <a:srgbClr val="34D399"/>
      </a:hlink>
      <a:folHlink>
        <a:srgbClr val="5E6F69"/>
      </a:folHlink>
    </a:clrScheme>
    <a:fontScheme name="Clearview BI Emerald">
      <a:majorFont>
        <a:latin typeface="DM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DM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Clearview BI Emerald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5c63bade0244065" /><Relationship Type="http://schemas.openxmlformats.org/officeDocument/2006/relationships/notesMaster" Target="/ppt/notesMasters/notesMaster1.xml" Id="Re0128ca3de6f4e4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486564635c9472a" /><Relationship Type="http://schemas.openxmlformats.org/officeDocument/2006/relationships/notesMaster" Target="/ppt/notesMasters/notesMaster1.xml" Id="Rcff5ff92f6a5480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80119a132634bf3" /><Relationship Type="http://schemas.openxmlformats.org/officeDocument/2006/relationships/notesMaster" Target="/ppt/notesMasters/notesMaster1.xml" Id="Rd916983155244c9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916b7047bbd4a31" /><Relationship Type="http://schemas.openxmlformats.org/officeDocument/2006/relationships/notesMaster" Target="/ppt/notesMasters/notesMaster1.xml" Id="Re98af2c4348d492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6091e8c376a491d" /><Relationship Type="http://schemas.openxmlformats.org/officeDocument/2006/relationships/notesMaster" Target="/ppt/notesMasters/notesMaster1.xml" Id="Rf7ab5985864e403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1eb43b2dafb4b76" /><Relationship Type="http://schemas.openxmlformats.org/officeDocument/2006/relationships/notesMaster" Target="/ppt/notesMasters/notesMaster1.xml" Id="Ra150e7b98c6d44d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b27c40f83d746e1" /><Relationship Type="http://schemas.openxmlformats.org/officeDocument/2006/relationships/notesMaster" Target="/ppt/notesMasters/notesMaster1.xml" Id="R1208559f2fd145d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dd7d0ea8fe4c7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8a6498b2ee4e0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533d194b434e09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preserve="1">
  <p:cSld name="DARK">
    <p:bg>
      <p:bgPr>
        <a:solidFill xmlns:a="http://schemas.openxmlformats.org/drawingml/2006/main">
          <a:schemeClr val="tx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A42C370A-FE69-44EE-ADCE-E50C5B997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6236208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A7BDB6"/>
                </a:solidFill>
              </a:rPr>
              <a:t>Clearview BI</a:t>
            </a:r>
            <a:endParaRPr sz="1200"/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>
  <p:cSld name="LIGHT">
    <p:bg>
      <p:bgPr>
        <a:solidFill xmlns:a="http://schemas.openxmlformats.org/drawingml/2006/main">
          <a:schemeClr val="bg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208DBEA7-1186-408B-8360-9A6D6B6A7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6236208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5E6F69"/>
                </a:solidFill>
              </a:rPr>
              <a:t>Clearview BI</a:t>
            </a:r>
            <a:endParaRPr sz="1200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a1d1bad0c6f4f91" /><Relationship Type="http://schemas.openxmlformats.org/officeDocument/2006/relationships/slideLayout" Target="/ppt/slideLayouts/slideLayout1.xml" Id="R02606b5d9f3e4ab7" /><Relationship Type="http://schemas.openxmlformats.org/officeDocument/2006/relationships/slideLayout" Target="/ppt/slideLayouts/slideLayout2.xml" Id="R5aee321d42f54b78" /><Relationship Type="http://schemas.openxmlformats.org/officeDocument/2006/relationships/slideLayout" Target="/ppt/slideLayouts/slideLayout3.xml" Id="R498746aea3a0447d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2606b5d9f3e4ab7"/>
    <p:sldLayoutId xmlns:r="http://schemas.openxmlformats.org/officeDocument/2006/relationships" id="2147483650" r:id="R5aee321d42f54b78"/>
    <p:sldLayoutId xmlns:r="http://schemas.openxmlformats.org/officeDocument/2006/relationships" id="2147483651" r:id="R498746aea3a0447d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learview BI Emerald">
  <a:themeElements>
    <a:clrScheme name="Clearview BI Emerald">
      <a:dk1>
        <a:srgbClr val="0B2B26"/>
      </a:dk1>
      <a:lt1>
        <a:srgbClr val="FFFFFF"/>
      </a:lt1>
      <a:dk2>
        <a:srgbClr val="13403B"/>
      </a:dk2>
      <a:lt2>
        <a:srgbClr val="F6F8F5"/>
      </a:lt2>
      <a:accent1>
        <a:srgbClr val="0F7A58"/>
      </a:accent1>
      <a:accent2>
        <a:srgbClr val="E8B04B"/>
      </a:accent2>
      <a:accent3>
        <a:srgbClr val="34D399"/>
      </a:accent3>
      <a:accent4>
        <a:srgbClr val="10B981"/>
      </a:accent4>
      <a:accent5>
        <a:srgbClr val="F87171"/>
      </a:accent5>
      <a:accent6>
        <a:srgbClr val="5E6F69"/>
      </a:accent6>
      <a:hlink>
        <a:srgbClr val="34D399"/>
      </a:hlink>
      <a:folHlink>
        <a:srgbClr val="5E6F69"/>
      </a:folHlink>
    </a:clrScheme>
    <a:fontScheme name="Clearview BI Emerald">
      <a:majorFont>
        <a:latin typeface="DM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DM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Clearview BI Emerald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86cd006bf324a32" /><Relationship Type="http://schemas.openxmlformats.org/officeDocument/2006/relationships/notesSlide" Target="/ppt/notesSlides/notesSlide1.xml" Id="Rdba4bf07f3d54ae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f41459f4a464f6f" /><Relationship Type="http://schemas.openxmlformats.org/officeDocument/2006/relationships/notesSlide" Target="/ppt/notesSlides/notesSlide2.xml" Id="Rb6c54f9e52ce460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fdb507ee31b483d" /><Relationship Type="http://schemas.openxmlformats.org/officeDocument/2006/relationships/notesSlide" Target="/ppt/notesSlides/notesSlide3.xml" Id="Rec0ee1001dac4d1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46f004a1e124259" /><Relationship Type="http://schemas.openxmlformats.org/officeDocument/2006/relationships/chart" Target="/ppt/slides/charts/chart1.xml" Id="R18a2ec74148d4d59" /><Relationship Type="http://schemas.openxmlformats.org/officeDocument/2006/relationships/notesSlide" Target="/ppt/notesSlides/notesSlide4.xml" Id="Rb970478238844d3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dddb7206e4f4396" /><Relationship Type="http://schemas.openxmlformats.org/officeDocument/2006/relationships/notesSlide" Target="/ppt/notesSlides/notesSlide5.xml" Id="R8b91c9e582844a0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b5961f1621b4975" /><Relationship Type="http://schemas.openxmlformats.org/officeDocument/2006/relationships/notesSlide" Target="/ppt/notesSlides/notesSlide6.xml" Id="R9a649b03e96444b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9ee89c7e99c47ff" /><Relationship Type="http://schemas.openxmlformats.org/officeDocument/2006/relationships/notesSlide" Target="/ppt/notesSlides/notesSlide7.xml" Id="R9993b409fea1475e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125">
                <a:solidFill>
                  <a:srgbClr val="5E6F69"/>
                </a:solidFill>
              </a:rPr>
              <a:t>Revenue by 6-day period (USD) • last 30 days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>
              <a:solidFill>
                <a:srgbClr val="5E6F69"/>
              </a:solidFill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Revenue (USD)</c:v>
          </c:tx>
          <c:spPr>
            <a:solidFill xmlns:a="http://schemas.openxmlformats.org/drawingml/2006/main">
              <a:srgbClr val="0F7A58"/>
            </a:solidFill>
          </c:spPr>
          <c:marker>
            <c:symbol val="none"/>
          </c:marker>
          <c:cat>
            <c:strRef>
              <c:f>'Chart Data'!$A$2:$A$6</c:f>
              <c:strCache>
                <c:ptCount val="5"/>
                <c:pt idx="0">
                  <c:v>Sep 9–14</c:v>
                </c:pt>
                <c:pt idx="1">
                  <c:v>Sep 15–20</c:v>
                </c:pt>
                <c:pt idx="2">
                  <c:v>Sep 21–26</c:v>
                </c:pt>
                <c:pt idx="3">
                  <c:v>Sep 27–Oct 2</c:v>
                </c:pt>
                <c:pt idx="4">
                  <c:v>Oct 3–8</c:v>
                </c:pt>
              </c:strCache>
            </c:strRef>
          </c:cat>
          <c:val>
            <c:numRef>
              <c:f>'Chart Data'!$B$2:$B$6</c:f>
              <c:numCache>
                <c:formatCode>$#,##0</c:formatCode>
                <c:ptCount val="5"/>
                <c:pt idx="0">
                  <c:v>3752.89</c:v>
                </c:pt>
                <c:pt idx="1">
                  <c:v>6111.89</c:v>
                </c:pt>
                <c:pt idx="2">
                  <c:v>6741.83</c:v>
                </c:pt>
                <c:pt idx="3">
                  <c:v>4478.86</c:v>
                </c:pt>
                <c:pt idx="4">
                  <c:v>2039.95</c:v>
                </c:pt>
              </c:numCache>
            </c:numRef>
          </c:val>
          <c:smooth val="0"/>
        </c:ser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E6F69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3E8E5"/>
              </a:solidFill>
              <a:prstDash val="solid"/>
            </a:ln>
          </c:spPr>
        </c:majorGridlines>
        <c:numFmt formatCode="$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E6F69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BB0E592-ECF9-46D7-8036-77CB34FDD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0" y="1517904"/>
            <a:ext cx="3291840" cy="32918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4334"/>
          </a:solidFill>
          <a:ln xmlns:a="http://schemas.openxmlformats.org/drawingml/2006/main" w="12700">
            <a:solidFill>
              <a:srgbClr val="0A4334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6525560E-7177-498F-89EC-4E96AB9F0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9096" y="3566160"/>
            <a:ext cx="1901952" cy="1901952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>
              <a:alpha val="24000"/>
            </a:schemeClr>
          </a:solidFill>
          <a:ln xmlns:a="http://schemas.openxmlformats.org/drawingml/2006/main" w="12700">
            <a:solidFill>
              <a:schemeClr val="accent2">
                <a:alpha val="0"/>
              </a:schemeClr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E1337FC2-9AD2-4E69-9F93-9EA3C83E7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78308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 spc="300">
                <a:solidFill>
                  <a:schemeClr val="accent3"/>
                </a:solidFill>
              </a:rPr>
              <a:t>AGENTS AT WORK HACKATHON</a:t>
            </a:r>
            <a:endParaRPr sz="15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46B66EFE-31C4-4A09-8C03-6C91874A9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011680"/>
            <a:ext cx="749808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800" b="1">
                <a:solidFill>
                  <a:schemeClr val="bg1"/>
                </a:solidFill>
              </a:rPr>
              <a:t>Clearview BI</a:t>
            </a:r>
            <a:endParaRPr sz="88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C1287055-AF6B-43B8-943C-2CDC214A5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611880"/>
            <a:ext cx="694944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3200">
                <a:solidFill>
                  <a:schemeClr val="accent3"/>
                </a:solidFill>
              </a:rPr>
              <a:t>One clear view.</a:t>
            </a:r>
            <a:endParaRPr sz="32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3200">
                <a:solidFill>
                  <a:schemeClr val="accent3"/>
                </a:solidFill>
              </a:rPr>
              <a:t>Better next moves.</a:t>
            </a:r>
            <a:endParaRPr sz="32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49815E53-C98A-4D4C-924F-00EF24337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846320"/>
            <a:ext cx="6949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>
                <a:solidFill>
                  <a:srgbClr val="A7BDB6"/>
                </a:solidFill>
              </a:rPr>
              <a:t>Business intelligence and an AI analyst for startups and small businesses</a:t>
            </a:r>
            <a:endParaRPr sz="17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18366916-8010-4B7A-882A-D0D8F26CA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8064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chemeClr val="bg1"/>
                </a:solidFill>
              </a:rPr>
              <a:t>Basmala Azab  |  Sara Basem  |  Shahd Elgouhary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168237102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ABE451C7-6188-44E3-B6E2-27F464E50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749808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 spc="200">
                <a:solidFill>
                  <a:schemeClr val="accent1"/>
                </a:solidFill>
              </a:rPr>
              <a:t>01  THE SME WORKFLOW</a:t>
            </a:r>
            <a:endParaRPr sz="14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9B8209C-781D-4EFF-8FAD-C99719479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097280"/>
            <a:ext cx="105613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chemeClr val="tx1"/>
                </a:solidFill>
              </a:rPr>
              <a:t>Small teams still build their business picture by hand</a:t>
            </a:r>
            <a:endParaRPr sz="3200"/>
          </a:p>
        </p:txBody>
      </p:sp>
      <p:sp>
        <p:nvSpPr>
          <p:cNvPr id="4" name="Problem card 1">
            <a:extLst xmlns:a="http://schemas.openxmlformats.org/drawingml/2006/main">
              <a:ext uri="{FF2B5EF4-FFF2-40B4-BE49-F238E27FC236}">
                <a16:creationId xmlns:a16="http://schemas.microsoft.com/office/drawing/2014/main" id="{7A857F19-C1E0-47D2-8E82-7739F0571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514600"/>
            <a:ext cx="3383280" cy="2148840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>
            <a:solidFill>
              <a:srgbClr val="E3E8E5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DAFBF3D2-7F39-455A-A592-D27A2DA35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834640"/>
            <a:ext cx="2834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chemeClr val="accent1"/>
                </a:solidFill>
              </a:rPr>
              <a:t>Built for lean teams</a:t>
            </a:r>
            <a:endParaRPr sz="20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C849763-48CE-4F09-9F70-2073BADC6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383280"/>
            <a:ext cx="283464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5E6F69"/>
                </a:solidFill>
              </a:rPr>
              <a:t>Small retailers selling across a web store, marketplace, and payment platform.</a:t>
            </a:r>
            <a:endParaRPr sz="1500"/>
          </a:p>
        </p:txBody>
      </p:sp>
      <p:sp>
        <p:nvSpPr>
          <p:cNvPr id="7" name="Problem card 2">
            <a:extLst xmlns:a="http://schemas.openxmlformats.org/drawingml/2006/main">
              <a:ext uri="{FF2B5EF4-FFF2-40B4-BE49-F238E27FC236}">
                <a16:creationId xmlns:a16="http://schemas.microsoft.com/office/drawing/2014/main" id="{936C575F-8C50-4645-8994-0141CF212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1980" y="2514600"/>
            <a:ext cx="3383280" cy="2148840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>
            <a:solidFill>
              <a:srgbClr val="E3E8E5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ACF3863A-4510-4E6C-B05E-93A01E52F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834640"/>
            <a:ext cx="2834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chemeClr val="accent1"/>
                </a:solidFill>
              </a:rPr>
              <a:t>Today: manual reporting</a:t>
            </a:r>
            <a:endParaRPr sz="20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CCE05D37-C3F2-4C38-8ABF-196D67E33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383280"/>
            <a:ext cx="283464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5E6F69"/>
                </a:solidFill>
              </a:rPr>
              <a:t>Export data, reconcile spreadsheets, calculate KPIs, then check stock by hand.</a:t>
            </a:r>
            <a:endParaRPr sz="1500"/>
          </a:p>
        </p:txBody>
      </p:sp>
      <p:sp>
        <p:nvSpPr>
          <p:cNvPr id="10" name="Problem card 3">
            <a:extLst xmlns:a="http://schemas.openxmlformats.org/drawingml/2006/main">
              <a:ext uri="{FF2B5EF4-FFF2-40B4-BE49-F238E27FC236}">
                <a16:creationId xmlns:a16="http://schemas.microsoft.com/office/drawing/2014/main" id="{8B142DFE-AB45-42E0-B5A0-6D07E7E01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514600"/>
            <a:ext cx="3383280" cy="2148840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>
            <a:solidFill>
              <a:srgbClr val="E3E8E5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AD697AF4-5DB0-46AC-9890-73AE99E0B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2834640"/>
            <a:ext cx="2834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chemeClr val="accent1"/>
                </a:solidFill>
              </a:rPr>
              <a:t>The cost: slower action</a:t>
            </a:r>
            <a:endParaRPr sz="20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DAB2D5C0-5D82-43EC-AE1B-55D9EAB28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3383280"/>
            <a:ext cx="283464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5E6F69"/>
                </a:solidFill>
              </a:rPr>
              <a:t>Hours spent compiling data delay answers about cancellations, churn, and stock risk.</a:t>
            </a:r>
            <a:endParaRPr sz="15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CE5B5584-4438-4A00-9D85-13952F6DA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257800"/>
            <a:ext cx="105613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 b="1">
                <a:solidFill>
                  <a:schemeClr val="tx1"/>
                </a:solidFill>
              </a:rPr>
              <a:t>Clearview replaces spreadsheet consolidation with one review-ready business picture.</a:t>
            </a:r>
            <a:endParaRPr sz="19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67EFB976-D14B-47A6-837A-AB45DBEA2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9880" y="6236208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>
                <a:solidFill>
                  <a:srgbClr val="5E6F69"/>
                </a:solidFill>
              </a:rPr>
              <a:t>2 / 7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195463073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18FC6881-53F1-499B-AB5B-D54A81659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749808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 spc="200">
                <a:solidFill>
                  <a:schemeClr val="accent1"/>
                </a:solidFill>
              </a:rPr>
              <a:t>02  THE SOLUTION</a:t>
            </a:r>
            <a:endParaRPr sz="14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2E51679-02D1-4A56-8E1A-026E6A531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097280"/>
            <a:ext cx="105613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chemeClr val="tx1"/>
                </a:solidFill>
              </a:rPr>
              <a:t>From scattered data to confident decisions</a:t>
            </a:r>
            <a:endParaRPr sz="32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AD53ADC3-83B9-404E-B30B-7D8C865A4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286000"/>
            <a:ext cx="45720" cy="77724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 w="12700">
            <a:solidFill>
              <a:schemeClr val="accent4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19751682-5B80-4E1F-BF8C-5955FF872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2286000"/>
            <a:ext cx="5468112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chemeClr val="tx1"/>
                </a:solidFill>
              </a:rPr>
              <a:t>Company workspaces</a:t>
            </a:r>
            <a:endParaRPr sz="18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011755C9-7FA8-47FB-AD45-9962FE3BF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2633472"/>
            <a:ext cx="5468112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chemeClr val="accent6"/>
                </a:solidFill>
              </a:rPr>
              <a:t>Each business gets its own workspace for data and its team.</a:t>
            </a:r>
            <a:endParaRPr sz="14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E143D48D-753F-42CE-96A8-F08B02A88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246120"/>
            <a:ext cx="45720" cy="77724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 w="12700">
            <a:solidFill>
              <a:schemeClr val="accent4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BA879B3-9DB7-40FF-A79B-5AF4011EC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3246120"/>
            <a:ext cx="5468112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chemeClr val="tx1"/>
                </a:solidFill>
              </a:rPr>
              <a:t>CSV + Stripe Test Mode</a:t>
            </a:r>
            <a:endParaRPr sz="18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8FEBC4BE-24E0-4D24-89E0-E76C30D28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3593592"/>
            <a:ext cx="5468112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chemeClr val="accent6"/>
                </a:solidFill>
              </a:rPr>
              <a:t>Import business files or sync Stripe test data. Supported currencies convert to USD at available daily rates.</a:t>
            </a:r>
            <a:endParaRPr sz="140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919454D4-C95F-4690-B985-F7BD52393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206240"/>
            <a:ext cx="45720" cy="77724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 w="12700">
            <a:solidFill>
              <a:schemeClr val="accent4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79FDACAA-2FA0-4870-A339-43685948C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4206240"/>
            <a:ext cx="5468112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chemeClr val="tx1"/>
                </a:solidFill>
              </a:rPr>
              <a:t>Analytics &amp; alerts</a:t>
            </a:r>
            <a:endParaRPr sz="18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2546E060-0AA1-42B4-AB15-FC537D3D7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4553712"/>
            <a:ext cx="5468112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chemeClr val="accent6"/>
                </a:solidFill>
              </a:rPr>
              <a:t>KPIs, trends, low-stock alerts and RFM customer segments.</a:t>
            </a:r>
            <a:endParaRPr sz="140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117DA5D4-0268-4AF5-AB5E-72DB79174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166360"/>
            <a:ext cx="45720" cy="77724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 w="12700">
            <a:solidFill>
              <a:schemeClr val="accent4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4BF8C62A-D24B-456E-AC47-DEF5AEDDE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166360"/>
            <a:ext cx="5468112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chemeClr val="tx1"/>
                </a:solidFill>
              </a:rPr>
              <a:t>AI Business Analyst</a:t>
            </a:r>
            <a:endParaRPr sz="18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42B530B1-FBD1-46A3-B5A7-19ABE9BC2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513832"/>
            <a:ext cx="5468112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chemeClr val="accent6"/>
                </a:solidFill>
              </a:rPr>
              <a:t>Optional AI: OpenAI first, Gemini fallback; built-in analysis stays available.</a:t>
            </a:r>
            <a:endParaRPr sz="1400"/>
          </a:p>
        </p:txBody>
      </p:sp>
      <p:sp>
        <p:nvSpPr>
          <p:cNvPr id="16" name="Example card">
            <a:extLst xmlns:a="http://schemas.openxmlformats.org/drawingml/2006/main">
              <a:ext uri="{FF2B5EF4-FFF2-40B4-BE49-F238E27FC236}">
                <a16:creationId xmlns:a16="http://schemas.microsoft.com/office/drawing/2014/main" id="{6E97770D-A4FD-49D3-8ECD-04EE812AA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2377440"/>
            <a:ext cx="4562856" cy="3611880"/>
          </a:xfrm>
          <a:prstGeom xmlns:a="http://schemas.openxmlformats.org/drawingml/2006/main" prst="roundRect">
            <a:avLst>
              <a:gd name="adj" fmla="val 3038"/>
            </a:avLst>
          </a:prstGeom>
          <a:solidFill xmlns:a="http://schemas.openxmlformats.org/drawingml/2006/main">
            <a:schemeClr val="tx2"/>
          </a:solidFill>
          <a:ln xmlns:a="http://schemas.openxmlformats.org/drawingml/2006/main" w="9525">
            <a:solidFill>
              <a:srgbClr val="254E48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ED4AB568-142B-40EC-855C-13C79BB05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2606040"/>
            <a:ext cx="39319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200">
                <a:solidFill>
                  <a:schemeClr val="accent3"/>
                </a:solidFill>
              </a:rPr>
              <a:t>ILLUSTRATIVE EXAMPLE</a:t>
            </a:r>
            <a:endParaRPr sz="12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A55BF696-385D-4370-8A07-BAF672A5E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2926080"/>
            <a:ext cx="39319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chemeClr val="bg1"/>
                </a:solidFill>
              </a:rPr>
              <a:t>Is our top product at stockout risk?</a:t>
            </a:r>
            <a:endParaRPr sz="170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CA92616F-14D0-48A4-8801-A557CFDCA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3703320"/>
            <a:ext cx="39319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54E48"/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EFADCB62-B121-4DB8-A13C-DB1BCC9FD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3840480"/>
            <a:ext cx="39319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200">
                <a:solidFill>
                  <a:schemeClr val="accent3"/>
                </a:solidFill>
              </a:rPr>
              <a:t>EVIDENCE</a:t>
            </a:r>
            <a:endParaRPr sz="12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A181826C-41E4-4134-BDF0-09AC4A821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4114800"/>
            <a:ext cx="39319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chemeClr val="bg1"/>
                </a:solidFill>
              </a:rPr>
              <a:t>4 units left • about 5.2 days of cover • 23 sold in 30 days</a:t>
            </a:r>
            <a:endParaRPr sz="14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45F15930-8E0C-4367-B88A-7AB8C8A41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4846320"/>
            <a:ext cx="39319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200">
                <a:solidFill>
                  <a:schemeClr val="accent2"/>
                </a:solidFill>
              </a:rPr>
              <a:t>SUGGESTION TO VALIDATE</a:t>
            </a:r>
            <a:endParaRPr sz="12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15FA0385-81CD-49FE-946F-8AD385CDA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5120640"/>
            <a:ext cx="39319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chemeClr val="bg1"/>
                </a:solidFill>
              </a:rPr>
              <a:t>Prepare a suggested reorder quantity for manager review. No order is placed.</a:t>
            </a:r>
            <a:endParaRPr sz="14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F08D2FF4-D6D0-4EAA-BC3F-451506733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9880" y="6236208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>
                <a:solidFill>
                  <a:srgbClr val="5E6F69"/>
                </a:solidFill>
              </a:rPr>
              <a:t>3 / 7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89643476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C5F8784-74DE-4D9F-B319-075839BD2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749808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 spc="200">
                <a:solidFill>
                  <a:schemeClr val="accent1"/>
                </a:solidFill>
              </a:rPr>
              <a:t>04  THE DASHBOARD</a:t>
            </a:r>
            <a:endParaRPr sz="14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732551A-493B-47C1-A9C3-903B26AFC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097280"/>
            <a:ext cx="105613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chemeClr val="tx1"/>
                </a:solidFill>
              </a:rPr>
              <a:t>Illustrative 30-day sample-data snapshot</a:t>
            </a:r>
            <a:endParaRPr sz="3200"/>
          </a:p>
        </p:txBody>
      </p:sp>
      <p:sp>
        <p:nvSpPr>
          <p:cNvPr id="4" name="KPI REVENUE">
            <a:extLst xmlns:a="http://schemas.openxmlformats.org/drawingml/2006/main">
              <a:ext uri="{FF2B5EF4-FFF2-40B4-BE49-F238E27FC236}">
                <a16:creationId xmlns:a16="http://schemas.microsoft.com/office/drawing/2014/main" id="{24B71043-B42E-4F96-BA9B-5EB5568D5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03120"/>
            <a:ext cx="1965960" cy="96012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>
            <a:solidFill>
              <a:srgbClr val="E3E8E5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F148EA5B-7194-4295-ADA7-C055FEEB2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240280"/>
            <a:ext cx="16002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100">
                <a:solidFill>
                  <a:schemeClr val="accent6"/>
                </a:solidFill>
              </a:rPr>
              <a:t>REVENUE (USD)</a:t>
            </a:r>
            <a:endParaRPr sz="12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EB583B2C-2472-48F6-92C8-64DAFB685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560320"/>
            <a:ext cx="1600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chemeClr val="tx1"/>
                </a:solidFill>
              </a:rPr>
              <a:t>$23,125.42</a:t>
            </a:r>
            <a:endParaRPr sz="1500"/>
          </a:p>
        </p:txBody>
      </p:sp>
      <p:sp>
        <p:nvSpPr>
          <p:cNvPr id="7" name="KPI ORDERS">
            <a:extLst xmlns:a="http://schemas.openxmlformats.org/drawingml/2006/main">
              <a:ext uri="{FF2B5EF4-FFF2-40B4-BE49-F238E27FC236}">
                <a16:creationId xmlns:a16="http://schemas.microsoft.com/office/drawing/2014/main" id="{5DBF8E3B-8B3E-4BFD-9219-361384DED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103120"/>
            <a:ext cx="1965960" cy="96012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>
            <a:solidFill>
              <a:srgbClr val="E3E8E5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F86A2534-B637-4A6B-946C-1AC3A0ED5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2240280"/>
            <a:ext cx="16002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100">
                <a:solidFill>
                  <a:schemeClr val="accent6"/>
                </a:solidFill>
              </a:rPr>
              <a:t>ORDERS</a:t>
            </a:r>
            <a:endParaRPr sz="12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13A8C024-3726-4C26-B544-9A87F62D7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2560320"/>
            <a:ext cx="1600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chemeClr val="tx1"/>
                </a:solidFill>
              </a:rPr>
              <a:t>66</a:t>
            </a:r>
            <a:endParaRPr sz="1500"/>
          </a:p>
        </p:txBody>
      </p:sp>
      <p:sp>
        <p:nvSpPr>
          <p:cNvPr id="10" name="KPI CUSTOMERS">
            <a:extLst xmlns:a="http://schemas.openxmlformats.org/drawingml/2006/main">
              <a:ext uri="{FF2B5EF4-FFF2-40B4-BE49-F238E27FC236}">
                <a16:creationId xmlns:a16="http://schemas.microsoft.com/office/drawing/2014/main" id="{04693771-FF48-4D48-BE4D-290B355F6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2103120"/>
            <a:ext cx="1965960" cy="96012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>
            <a:solidFill>
              <a:srgbClr val="E3E8E5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9CE99AE5-A8D7-407C-9510-3FC37B482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2240280"/>
            <a:ext cx="16002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100">
                <a:solidFill>
                  <a:schemeClr val="accent6"/>
                </a:solidFill>
              </a:rPr>
              <a:t>CUSTOMERS</a:t>
            </a:r>
            <a:endParaRPr sz="12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D1AA5A93-6D32-4EE0-9AB5-8A986C574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2560320"/>
            <a:ext cx="1600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chemeClr val="tx1"/>
                </a:solidFill>
              </a:rPr>
              <a:t>10 active</a:t>
            </a:r>
            <a:endParaRPr sz="1500"/>
          </a:p>
        </p:txBody>
      </p:sp>
      <p:sp>
        <p:nvSpPr>
          <p:cNvPr id="13" name="KPI PRODUCTS">
            <a:extLst xmlns:a="http://schemas.openxmlformats.org/drawingml/2006/main">
              <a:ext uri="{FF2B5EF4-FFF2-40B4-BE49-F238E27FC236}">
                <a16:creationId xmlns:a16="http://schemas.microsoft.com/office/drawing/2014/main" id="{47194877-DB56-483D-9739-86220750C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2103120"/>
            <a:ext cx="1965960" cy="96012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>
            <a:solidFill>
              <a:srgbClr val="E3E8E5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B090E457-B2A2-46E4-8795-65FDF704A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2240280"/>
            <a:ext cx="16002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100">
                <a:solidFill>
                  <a:schemeClr val="accent6"/>
                </a:solidFill>
              </a:rPr>
              <a:t>PRODUCTS</a:t>
            </a:r>
            <a:endParaRPr sz="12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DBB2B035-0A7F-4ADE-9E64-9023D9BC7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2560320"/>
            <a:ext cx="1600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chemeClr val="tx1"/>
                </a:solidFill>
              </a:rPr>
              <a:t>20</a:t>
            </a:r>
            <a:endParaRPr sz="1500"/>
          </a:p>
        </p:txBody>
      </p:sp>
      <p:sp>
        <p:nvSpPr>
          <p:cNvPr id="16" name="KPI INVENTORY">
            <a:extLst xmlns:a="http://schemas.openxmlformats.org/drawingml/2006/main">
              <a:ext uri="{FF2B5EF4-FFF2-40B4-BE49-F238E27FC236}">
                <a16:creationId xmlns:a16="http://schemas.microsoft.com/office/drawing/2014/main" id="{A54BC5B8-B748-48C3-9C43-522F8F2B7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2103120"/>
            <a:ext cx="1965960" cy="96012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>
            <a:solidFill>
              <a:srgbClr val="E3E8E5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0BE6545C-4EF7-499F-9DDC-D6931D7FE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240280"/>
            <a:ext cx="16002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100">
                <a:solidFill>
                  <a:schemeClr val="accent6"/>
                </a:solidFill>
              </a:rPr>
              <a:t>INVENTORY</a:t>
            </a:r>
            <a:endParaRPr sz="12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7BF088B1-8762-482A-B058-8E0535A8E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560320"/>
            <a:ext cx="1600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chemeClr val="tx1"/>
                </a:solidFill>
              </a:rPr>
              <a:t>1 flagged</a:t>
            </a:r>
            <a:endParaRPr sz="1500"/>
          </a:p>
        </p:txBody>
      </p:sp>
      <p:sp>
        <p:nvSpPr>
          <p:cNvPr id="19" name="Chart card">
            <a:extLst xmlns:a="http://schemas.openxmlformats.org/drawingml/2006/main">
              <a:ext uri="{FF2B5EF4-FFF2-40B4-BE49-F238E27FC236}">
                <a16:creationId xmlns:a16="http://schemas.microsoft.com/office/drawing/2014/main" id="{56BE184B-199A-4C0D-BDF9-D015AD75F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246120"/>
            <a:ext cx="6355080" cy="27432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>
            <a:solidFill>
              <a:srgbClr val="E3E8E5"/>
            </a:solidFill>
            <a:prstDash val="solid"/>
          </a:ln>
        </p:spPr>
      </p:sp>
      <p:sp>
        <p:nvSpPr>
          <p:cNvPr id="21" name="Alerts card">
            <a:extLst xmlns:a="http://schemas.openxmlformats.org/drawingml/2006/main">
              <a:ext uri="{FF2B5EF4-FFF2-40B4-BE49-F238E27FC236}">
                <a16:creationId xmlns:a16="http://schemas.microsoft.com/office/drawing/2014/main" id="{C4DB7551-9210-4659-8E3D-7EB990AD6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920" y="3246120"/>
            <a:ext cx="4023360" cy="27432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chemeClr val="tx2"/>
          </a:solidFill>
          <a:ln xmlns:a="http://schemas.openxmlformats.org/drawingml/2006/main" w="9525">
            <a:solidFill>
              <a:srgbClr val="254E48"/>
            </a:solidFill>
            <a:prstDash val="solid"/>
          </a:ln>
        </p:spPr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AF4ABDCD-F430-494A-8545-991C1886D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3429000"/>
            <a:ext cx="34747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200">
                <a:solidFill>
                  <a:schemeClr val="accent3"/>
                </a:solidFill>
              </a:rPr>
              <a:t>ALERTS AND SUGGESTIONS</a:t>
            </a:r>
            <a:endParaRPr sz="1200"/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E6260C9C-31F2-4006-B432-EB55DB53F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3950208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12700">
            <a:solidFill>
              <a:schemeClr val="accent2"/>
            </a:solidFill>
            <a:prstDash val="solid"/>
          </a:ln>
        </p:spPr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D0F42DCD-6D44-4E56-A29E-9F0BFF4DA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886200"/>
            <a:ext cx="31089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chemeClr val="bg1"/>
                </a:solidFill>
              </a:rPr>
              <a:t>Low stock: 4K Monitor</a:t>
            </a:r>
            <a:endParaRPr sz="1800"/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F5EEE1FA-E228-4362-AC3D-FB77D5F8E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233672"/>
            <a:ext cx="31089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A7BDB6"/>
                </a:solidFill>
              </a:rPr>
              <a:t>4 left • about 5.2 days of cover • review a reorder draft</a:t>
            </a:r>
            <a:endParaRPr sz="1300"/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73361AF5-54ED-462B-B783-8B39AEDA5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4910328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5"/>
          </a:solidFill>
          <a:ln xmlns:a="http://schemas.openxmlformats.org/drawingml/2006/main" w="12700">
            <a:solidFill>
              <a:schemeClr val="accent5"/>
            </a:solidFill>
            <a:prstDash val="solid"/>
          </a:ln>
        </p:spPr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D2C2758A-264E-4B31-B682-805A865E5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846320"/>
            <a:ext cx="31089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chemeClr val="bg1"/>
                </a:solidFill>
              </a:rPr>
              <a:t>High cancellation rate</a:t>
            </a:r>
            <a:endParaRPr sz="1800"/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666494E4-21D0-440A-A66D-377971D60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193792"/>
            <a:ext cx="31089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A7BDB6"/>
                </a:solidFill>
              </a:rPr>
              <a:t>25.84% (23 orders) in the last 30 days</a:t>
            </a:r>
            <a:endParaRPr sz="1300"/>
          </a:p>
        </p:txBody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CEDF8A2E-33FE-479E-87B8-406A25504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9880" y="6236208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>
                <a:solidFill>
                  <a:srgbClr val="5E6F69"/>
                </a:solidFill>
              </a:rPr>
              <a:t>4 / 7</a:t>
            </a:r>
            <a:endParaRPr sz="1200"/>
          </a:p>
        </p:txBody>
      </p:sp>
      <p:graphicFrame>
        <p:nvGraphicFramePr>
          <p:cNvPr id="30" name="Chart">
            <a:extLst xmlns:a="http://schemas.openxmlformats.org/drawingml/2006/main">
              <a:ext uri="{FF2B5EF4-FFF2-40B4-BE49-F238E27FC236}">
                <a16:creationId xmlns:a16="http://schemas.microsoft.com/office/drawing/2014/main" id="{BE4055EC-8719-4CE5-A744-7C811EB7B61F}"/>
              </a:ext>
            </a:extLst>
          </p:cNvPr>
          <p:cNvGraphicFramePr/>
          <p:nvPr/>
        </p:nvGraphicFramePr>
        <p:xfrm>
          <a:off xmlns:a="http://schemas.openxmlformats.org/drawingml/2006/main" x="1005840" y="3337560"/>
          <a:ext xmlns:a="http://schemas.openxmlformats.org/drawingml/2006/main" cx="5989320" cy="256032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8a2ec74148d4d59"/>
          </a:graphicData>
        </a:graphic>
      </p:graphicFrame>
    </p:spTree>
    <p:extLst>
      <p:ext uri="{BB962C8B-B14F-4D97-AF65-F5344CB8AC3E}">
        <p14:creationId xmlns:p14="http://schemas.microsoft.com/office/powerpoint/2010/main" val="122925311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05EBEB6-0680-4903-B7E0-22A7AC487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749808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 spc="200">
                <a:solidFill>
                  <a:schemeClr val="accent3"/>
                </a:solidFill>
              </a:rPr>
              <a:t>05  AI BUSINESS ANALYST</a:t>
            </a:r>
            <a:endParaRPr sz="14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32D21A4-8BBD-4693-A1EF-8AAA1D16F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097280"/>
            <a:ext cx="105613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000" b="1">
                <a:solidFill>
                  <a:schemeClr val="bg1"/>
                </a:solidFill>
              </a:rPr>
              <a:t>Answers that show their evidence</a:t>
            </a:r>
            <a:endParaRPr sz="4000"/>
          </a:p>
        </p:txBody>
      </p:sp>
      <p:sp>
        <p:nvSpPr>
          <p:cNvPr id="4" name="Analyst card 1">
            <a:extLst xmlns:a="http://schemas.openxmlformats.org/drawingml/2006/main">
              <a:ext uri="{FF2B5EF4-FFF2-40B4-BE49-F238E27FC236}">
                <a16:creationId xmlns:a16="http://schemas.microsoft.com/office/drawing/2014/main" id="{AB3F0993-BAF7-4F9B-87E7-398928E4F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377440"/>
            <a:ext cx="3383280" cy="18288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chemeClr val="tx2"/>
          </a:solidFill>
          <a:ln xmlns:a="http://schemas.openxmlformats.org/drawingml/2006/main" w="9525">
            <a:solidFill>
              <a:srgbClr val="254E48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900536C0-2EB3-42CA-9B53-C27225E0E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697480"/>
            <a:ext cx="2834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chemeClr val="accent3"/>
                </a:solidFill>
              </a:rPr>
              <a:t>Uses your data</a:t>
            </a:r>
            <a:endParaRPr sz="20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8C34200C-5AB1-408C-B028-E31773661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200400"/>
            <a:ext cx="28346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chemeClr val="bg1"/>
                </a:solidFill>
              </a:rPr>
              <a:t>A built-in analyst grounds each answer in measured company metrics.</a:t>
            </a:r>
            <a:endParaRPr sz="1500"/>
          </a:p>
        </p:txBody>
      </p:sp>
      <p:sp>
        <p:nvSpPr>
          <p:cNvPr id="7" name="Analyst card 2">
            <a:extLst xmlns:a="http://schemas.openxmlformats.org/drawingml/2006/main">
              <a:ext uri="{FF2B5EF4-FFF2-40B4-BE49-F238E27FC236}">
                <a16:creationId xmlns:a16="http://schemas.microsoft.com/office/drawing/2014/main" id="{9CD799D7-3D84-41EF-A2EC-8BC0D25C6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1980" y="2377440"/>
            <a:ext cx="3383280" cy="18288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chemeClr val="tx2"/>
          </a:solidFill>
          <a:ln xmlns:a="http://schemas.openxmlformats.org/drawingml/2006/main" w="9525">
            <a:solidFill>
              <a:srgbClr val="254E48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8EB77949-1B83-458B-ABA0-53F4E19F9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697480"/>
            <a:ext cx="2834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chemeClr val="accent3"/>
                </a:solidFill>
              </a:rPr>
              <a:t>Shows its evidence</a:t>
            </a:r>
            <a:endParaRPr sz="20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E2487835-3689-4175-877D-4357FF8E7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200400"/>
            <a:ext cx="28346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chemeClr val="bg1"/>
                </a:solidFill>
              </a:rPr>
              <a:t>Every response names its period, sources and available data coverage.</a:t>
            </a:r>
            <a:endParaRPr sz="1500"/>
          </a:p>
        </p:txBody>
      </p:sp>
      <p:sp>
        <p:nvSpPr>
          <p:cNvPr id="10" name="Analyst card 3">
            <a:extLst xmlns:a="http://schemas.openxmlformats.org/drawingml/2006/main">
              <a:ext uri="{FF2B5EF4-FFF2-40B4-BE49-F238E27FC236}">
                <a16:creationId xmlns:a16="http://schemas.microsoft.com/office/drawing/2014/main" id="{E3072101-69EA-417A-B5C3-A0CC90588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77440"/>
            <a:ext cx="3383280" cy="18288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chemeClr val="tx2"/>
          </a:solidFill>
          <a:ln xmlns:a="http://schemas.openxmlformats.org/drawingml/2006/main" w="9525">
            <a:solidFill>
              <a:srgbClr val="254E48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6DEC551B-1BFF-43EC-A040-63969831F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2697480"/>
            <a:ext cx="2834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chemeClr val="accent3"/>
                </a:solidFill>
              </a:rPr>
              <a:t>Admits its limits</a:t>
            </a:r>
            <a:endParaRPr sz="20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77482861-0C80-4286-A619-773715375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3200400"/>
            <a:ext cx="28346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chemeClr val="bg1"/>
                </a:solidFill>
              </a:rPr>
              <a:t>It flags missing context instead of inventing a cause.</a:t>
            </a:r>
            <a:endParaRPr sz="1500"/>
          </a:p>
        </p:txBody>
      </p:sp>
      <p:sp>
        <p:nvSpPr>
          <p:cNvPr id="13" name="Chip Period: [PLACEHOLDER]">
            <a:extLst xmlns:a="http://schemas.openxmlformats.org/drawingml/2006/main">
              <a:ext uri="{FF2B5EF4-FFF2-40B4-BE49-F238E27FC236}">
                <a16:creationId xmlns:a16="http://schemas.microsoft.com/office/drawing/2014/main" id="{366FA54A-A8FF-466C-B81C-7B2ECE4E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480560"/>
            <a:ext cx="2651760" cy="502920"/>
          </a:xfrm>
          <a:prstGeom xmlns:a="http://schemas.openxmlformats.org/drawingml/2006/main" prst="roundRect">
            <a:avLst>
              <a:gd name="adj" fmla="val 21818"/>
            </a:avLst>
          </a:prstGeom>
          <a:solidFill xmlns:a="http://schemas.openxmlformats.org/drawingml/2006/main">
            <a:schemeClr val="tx2"/>
          </a:solidFill>
          <a:ln xmlns:a="http://schemas.openxmlformats.org/drawingml/2006/main" w="9525">
            <a:solidFill>
              <a:srgbClr val="254E48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AF9A5598-FA98-40DE-AA3B-76264FF3F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480560"/>
            <a:ext cx="26517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chemeClr val="bg1"/>
                </a:solidFill>
              </a:rPr>
              <a:t>Period: Last 30 days</a:t>
            </a:r>
            <a:endParaRPr sz="1400"/>
          </a:p>
        </p:txBody>
      </p:sp>
      <p:sp>
        <p:nvSpPr>
          <p:cNvPr id="15" name="Chip Sources: [PLACEHOLDER]">
            <a:extLst xmlns:a="http://schemas.openxmlformats.org/drawingml/2006/main">
              <a:ext uri="{FF2B5EF4-FFF2-40B4-BE49-F238E27FC236}">
                <a16:creationId xmlns:a16="http://schemas.microsoft.com/office/drawing/2014/main" id="{F1D61E69-0D62-49BE-9CAF-F33872487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480560"/>
            <a:ext cx="2651760" cy="502920"/>
          </a:xfrm>
          <a:prstGeom xmlns:a="http://schemas.openxmlformats.org/drawingml/2006/main" prst="roundRect">
            <a:avLst>
              <a:gd name="adj" fmla="val 21818"/>
            </a:avLst>
          </a:prstGeom>
          <a:solidFill xmlns:a="http://schemas.openxmlformats.org/drawingml/2006/main">
            <a:schemeClr val="tx2"/>
          </a:solidFill>
          <a:ln xmlns:a="http://schemas.openxmlformats.org/drawingml/2006/main" w="9525">
            <a:solidFill>
              <a:srgbClr val="254E48"/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8A85A893-50B9-4F8B-9DFD-BC96D287F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480560"/>
            <a:ext cx="26517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chemeClr val="bg1"/>
                </a:solidFill>
              </a:rPr>
              <a:t>Sources: Imported demo data</a:t>
            </a:r>
            <a:endParaRPr sz="14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1FE8AC17-C89B-4F16-B2E3-D5E2D70C0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440680"/>
            <a:ext cx="105613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 b="1">
                <a:solidFill>
                  <a:schemeClr val="accent2"/>
                </a:solidFill>
              </a:rPr>
              <a:t>Optional AI: OpenAI → Gemini fallback • streamed answers; built-in analyst always available.</a:t>
            </a:r>
            <a:endParaRPr sz="19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32C7FF21-BBDA-4B3C-B649-9E1044646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9880" y="6236208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>
                <a:solidFill>
                  <a:srgbClr val="A7BDB6"/>
                </a:solidFill>
              </a:rPr>
              <a:t>5 / 7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80672638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1787466-B91D-4484-BE08-C3DBDB4C9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749808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 spc="200">
                <a:solidFill>
                  <a:schemeClr val="accent1"/>
                </a:solidFill>
              </a:rPr>
              <a:t>06  IMPACT &amp; EVIDENCE</a:t>
            </a:r>
            <a:endParaRPr sz="14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828BE5E-B9F5-4DB4-9E3C-D1A42F75E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097280"/>
            <a:ext cx="105613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chemeClr val="tx1"/>
                </a:solidFill>
              </a:rPr>
              <a:t>A working analyst. Impact still to prove.</a:t>
            </a:r>
            <a:endParaRPr sz="32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120B471A-15C3-432C-9D0A-C8CE9A319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05740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200">
                <a:solidFill>
                  <a:schemeClr val="accent1"/>
                </a:solidFill>
              </a:rPr>
              <a:t>WHAT THE DEMO MEASURES · FICTIONAL SAMPLE DATA</a:t>
            </a:r>
            <a:endParaRPr sz="1200"/>
          </a:p>
        </p:txBody>
      </p:sp>
      <p:sp>
        <p:nvSpPr>
          <p:cNvPr id="5" name="Benefit 1">
            <a:extLst xmlns:a="http://schemas.openxmlformats.org/drawingml/2006/main">
              <a:ext uri="{FF2B5EF4-FFF2-40B4-BE49-F238E27FC236}">
                <a16:creationId xmlns:a16="http://schemas.microsoft.com/office/drawing/2014/main" id="{81DE9277-FB5A-40F2-BB5F-2B56BC36D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423160"/>
            <a:ext cx="3383280" cy="1417320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>
            <a:solidFill>
              <a:srgbClr val="E3E8E5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8F3B4C7B-142E-402F-995B-74772B2AA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651760"/>
            <a:ext cx="2834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 b="1">
                <a:solidFill>
                  <a:schemeClr val="accent1"/>
                </a:solidFill>
              </a:rPr>
              <a:t>Revenue + orders</a:t>
            </a:r>
            <a:endParaRPr sz="19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01C89D86-252C-4517-A426-7EF2EFAD7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081528"/>
            <a:ext cx="28346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5E6F69"/>
                </a:solidFill>
              </a:rPr>
              <a:t>$23,125.42 across 66 demo orders in 30 days.</a:t>
            </a:r>
            <a:endParaRPr sz="1500"/>
          </a:p>
        </p:txBody>
      </p:sp>
      <p:sp>
        <p:nvSpPr>
          <p:cNvPr id="8" name="Benefit 2">
            <a:extLst xmlns:a="http://schemas.openxmlformats.org/drawingml/2006/main">
              <a:ext uri="{FF2B5EF4-FFF2-40B4-BE49-F238E27FC236}">
                <a16:creationId xmlns:a16="http://schemas.microsoft.com/office/drawing/2014/main" id="{7B573A07-2E55-45B9-B709-78A5D5790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1980" y="2423160"/>
            <a:ext cx="3383280" cy="1417320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>
            <a:solidFill>
              <a:srgbClr val="E3E8E5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481F716D-F014-44B0-A397-CB305EABB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651760"/>
            <a:ext cx="2834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 b="1">
                <a:solidFill>
                  <a:schemeClr val="accent1"/>
                </a:solidFill>
              </a:rPr>
              <a:t>Cancellation risk</a:t>
            </a:r>
            <a:endParaRPr sz="19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5D2B14BC-BA38-4E11-A767-2C08D05D4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081528"/>
            <a:ext cx="28346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5E6F69"/>
                </a:solidFill>
              </a:rPr>
              <a:t>25.84% (23 orders) flagged for review in the sample.</a:t>
            </a:r>
            <a:endParaRPr sz="1500"/>
          </a:p>
        </p:txBody>
      </p:sp>
      <p:sp>
        <p:nvSpPr>
          <p:cNvPr id="11" name="Benefit 3">
            <a:extLst xmlns:a="http://schemas.openxmlformats.org/drawingml/2006/main">
              <a:ext uri="{FF2B5EF4-FFF2-40B4-BE49-F238E27FC236}">
                <a16:creationId xmlns:a16="http://schemas.microsoft.com/office/drawing/2014/main" id="{CC1ADDE3-94A6-497D-9181-E30967CB4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423160"/>
            <a:ext cx="3383280" cy="1417320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>
            <a:solidFill>
              <a:srgbClr val="E3E8E5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18AFF867-35ED-4C9D-B915-8DB4903AB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2651760"/>
            <a:ext cx="2834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 b="1">
                <a:solidFill>
                  <a:schemeClr val="accent1"/>
                </a:solidFill>
              </a:rPr>
              <a:t>Inventory risk</a:t>
            </a:r>
            <a:endParaRPr sz="19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8A56ECD1-A0EF-462B-83F7-544411BCF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3081528"/>
            <a:ext cx="28346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5E6F69"/>
                </a:solidFill>
              </a:rPr>
              <a:t>4 monitors left; estimated 5.2 days of cover.</a:t>
            </a:r>
            <a:endParaRPr sz="15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12067DA5-09C7-4255-8C18-68E30F831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11480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200">
                <a:solidFill>
                  <a:schemeClr val="accent1"/>
                </a:solidFill>
              </a:rPr>
              <a:t>WHAT A REAL SME PILOT MUST MEASURE</a:t>
            </a:r>
            <a:endParaRPr sz="1200"/>
          </a:p>
        </p:txBody>
      </p:sp>
      <p:sp>
        <p:nvSpPr>
          <p:cNvPr id="15" name="Next step 1">
            <a:extLst xmlns:a="http://schemas.openxmlformats.org/drawingml/2006/main">
              <a:ext uri="{FF2B5EF4-FFF2-40B4-BE49-F238E27FC236}">
                <a16:creationId xmlns:a16="http://schemas.microsoft.com/office/drawing/2014/main" id="{188138D5-3DFF-4398-84FE-9C3A46CCF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480560"/>
            <a:ext cx="3383280" cy="1417320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chemeClr val="tx2"/>
          </a:solidFill>
          <a:ln xmlns:a="http://schemas.openxmlformats.org/drawingml/2006/main" w="9525">
            <a:solidFill>
              <a:srgbClr val="254E48"/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FDD56349-4801-4ACB-B86F-762946664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4709160"/>
            <a:ext cx="2834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 b="1">
                <a:solidFill>
                  <a:schemeClr val="accent3"/>
                </a:solidFill>
              </a:rPr>
              <a:t>Time returned</a:t>
            </a:r>
            <a:endParaRPr sz="19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7CE170C3-06AC-49DB-93F4-8F2EDF53C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5138928"/>
            <a:ext cx="28346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chemeClr val="bg1"/>
                </a:solidFill>
              </a:rPr>
              <a:t>Compare minutes to prepare the same weekly report before and after.</a:t>
            </a:r>
            <a:endParaRPr sz="1500"/>
          </a:p>
        </p:txBody>
      </p:sp>
      <p:sp>
        <p:nvSpPr>
          <p:cNvPr id="18" name="Next step 2">
            <a:extLst xmlns:a="http://schemas.openxmlformats.org/drawingml/2006/main">
              <a:ext uri="{FF2B5EF4-FFF2-40B4-BE49-F238E27FC236}">
                <a16:creationId xmlns:a16="http://schemas.microsoft.com/office/drawing/2014/main" id="{3DB2BE8A-D3A4-49D3-9445-91BCDBE36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1980" y="4480560"/>
            <a:ext cx="3383280" cy="1417320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chemeClr val="tx2"/>
          </a:solidFill>
          <a:ln xmlns:a="http://schemas.openxmlformats.org/drawingml/2006/main" w="9525">
            <a:solidFill>
              <a:srgbClr val="254E48"/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D25D879A-7E78-4474-942E-433ECCED1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709160"/>
            <a:ext cx="2834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 b="1">
                <a:solidFill>
                  <a:schemeClr val="accent3"/>
                </a:solidFill>
              </a:rPr>
              <a:t>Operating cost</a:t>
            </a:r>
            <a:endParaRPr sz="19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BE1502D6-DA1F-4DFC-A39B-9C8E969ED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138928"/>
            <a:ext cx="28346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chemeClr val="bg1"/>
                </a:solidFill>
              </a:rPr>
              <a:t>Track analyst hours and urgent replenishment costs against a baseline.</a:t>
            </a:r>
            <a:endParaRPr sz="1500"/>
          </a:p>
        </p:txBody>
      </p:sp>
      <p:sp>
        <p:nvSpPr>
          <p:cNvPr id="21" name="Next step 3">
            <a:extLst xmlns:a="http://schemas.openxmlformats.org/drawingml/2006/main">
              <a:ext uri="{FF2B5EF4-FFF2-40B4-BE49-F238E27FC236}">
                <a16:creationId xmlns:a16="http://schemas.microsoft.com/office/drawing/2014/main" id="{360DD1C0-46FE-4E25-A54C-BDAE514A5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480560"/>
            <a:ext cx="3383280" cy="1417320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chemeClr val="tx2"/>
          </a:solidFill>
          <a:ln xmlns:a="http://schemas.openxmlformats.org/drawingml/2006/main" w="9525">
            <a:solidFill>
              <a:srgbClr val="254E48"/>
            </a:solidFill>
            <a:prstDash val="solid"/>
          </a:ln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E8B9BE5A-8A2C-4CDA-A87B-65DFA3033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4709160"/>
            <a:ext cx="2834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 b="1">
                <a:solidFill>
                  <a:schemeClr val="accent3"/>
                </a:solidFill>
              </a:rPr>
              <a:t>Revenue protected</a:t>
            </a:r>
            <a:endParaRPr sz="19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F351A86F-688F-4769-AF9F-6F7CDC9D5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5138928"/>
            <a:ext cx="28346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chemeClr val="bg1"/>
                </a:solidFill>
              </a:rPr>
              <a:t>Measure recovered sales after stock alerts; no pilot results claimed yet.</a:t>
            </a:r>
            <a:endParaRPr sz="15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120AC977-F820-40A9-806D-D2D37CF49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9880" y="6236208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>
                <a:solidFill>
                  <a:srgbClr val="5E6F69"/>
                </a:solidFill>
              </a:rPr>
              <a:t>6 / 7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83447119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64C206C-8E46-4908-A7E9-96BB4A27E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749808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 spc="200">
                <a:solidFill>
                  <a:schemeClr val="accent3"/>
                </a:solidFill>
              </a:rPr>
              <a:t>09  CLOSING</a:t>
            </a:r>
            <a:endParaRPr sz="14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49CAF34-717C-4E7F-B294-DFB5EC588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097280"/>
            <a:ext cx="105613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000" b="1">
                <a:solidFill>
                  <a:schemeClr val="bg1"/>
                </a:solidFill>
              </a:rPr>
              <a:t>See the signal. Choose the next move.</a:t>
            </a:r>
            <a:endParaRPr sz="4000"/>
          </a:p>
        </p:txBody>
      </p:sp>
      <p:sp>
        <p:nvSpPr>
          <p:cNvPr id="4" name="Ask card 1">
            <a:extLst xmlns:a="http://schemas.openxmlformats.org/drawingml/2006/main">
              <a:ext uri="{FF2B5EF4-FFF2-40B4-BE49-F238E27FC236}">
                <a16:creationId xmlns:a16="http://schemas.microsoft.com/office/drawing/2014/main" id="{E1BEB69B-54B1-43E4-B193-8DE2EEEC6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240280"/>
            <a:ext cx="3383280" cy="1691640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chemeClr val="tx2"/>
          </a:solidFill>
          <a:ln xmlns:a="http://schemas.openxmlformats.org/drawingml/2006/main" w="9525">
            <a:solidFill>
              <a:srgbClr val="254E48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2DCE4ED4-2046-4553-A149-2DB7CAF22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514600"/>
            <a:ext cx="2834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chemeClr val="accent3"/>
                </a:solidFill>
              </a:rPr>
              <a:t>Explore the dashboard</a:t>
            </a:r>
            <a:endParaRPr sz="20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3D97AE29-B93B-4663-8937-9942F7F5A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990088"/>
            <a:ext cx="28346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chemeClr val="bg1"/>
                </a:solidFill>
              </a:rPr>
              <a:t>Review performance, customer segments and inventory risk from your company data.</a:t>
            </a:r>
            <a:endParaRPr sz="1500"/>
          </a:p>
        </p:txBody>
      </p:sp>
      <p:sp>
        <p:nvSpPr>
          <p:cNvPr id="7" name="Ask card 2">
            <a:extLst xmlns:a="http://schemas.openxmlformats.org/drawingml/2006/main">
              <a:ext uri="{FF2B5EF4-FFF2-40B4-BE49-F238E27FC236}">
                <a16:creationId xmlns:a16="http://schemas.microsoft.com/office/drawing/2014/main" id="{007BB93B-5E87-4042-B552-0DEBD3098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1980" y="2240280"/>
            <a:ext cx="3383280" cy="1691640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chemeClr val="tx2"/>
          </a:solidFill>
          <a:ln xmlns:a="http://schemas.openxmlformats.org/drawingml/2006/main" w="9525">
            <a:solidFill>
              <a:srgbClr val="254E48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401A1593-56F3-49E2-AB2E-702681A5A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514600"/>
            <a:ext cx="2834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chemeClr val="accent3"/>
                </a:solidFill>
              </a:rPr>
              <a:t>Ask the analyst</a:t>
            </a:r>
            <a:endParaRPr sz="20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58727529-BD00-4B34-9DDE-8608B82C2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990088"/>
            <a:ext cx="28346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chemeClr val="bg1"/>
                </a:solidFill>
              </a:rPr>
              <a:t>Get streamed, evidence-based answers with clear limits.</a:t>
            </a:r>
            <a:endParaRPr sz="1500"/>
          </a:p>
        </p:txBody>
      </p:sp>
      <p:sp>
        <p:nvSpPr>
          <p:cNvPr id="10" name="Ask card 3">
            <a:extLst xmlns:a="http://schemas.openxmlformats.org/drawingml/2006/main">
              <a:ext uri="{FF2B5EF4-FFF2-40B4-BE49-F238E27FC236}">
                <a16:creationId xmlns:a16="http://schemas.microsoft.com/office/drawing/2014/main" id="{ED44FCF7-46CB-4274-A0F2-CFA7032E2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240280"/>
            <a:ext cx="3383280" cy="1691640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chemeClr val="tx2"/>
          </a:solidFill>
          <a:ln xmlns:a="http://schemas.openxmlformats.org/drawingml/2006/main" w="9525">
            <a:solidFill>
              <a:srgbClr val="254E48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34522A1E-4468-4B63-803B-3C3ACE83F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2514600"/>
            <a:ext cx="2834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chemeClr val="accent3"/>
                </a:solidFill>
              </a:rPr>
              <a:t>Take a closer look</a:t>
            </a:r>
            <a:endParaRPr sz="20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D2A2B956-7BBB-4342-8E00-3419AD7C1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2990088"/>
            <a:ext cx="28346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chemeClr val="bg1"/>
                </a:solidFill>
              </a:rPr>
              <a:t>Open the live demo and explore the project.</a:t>
            </a:r>
            <a:endParaRPr sz="15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B67707B8-8C04-46BD-A856-64E0B52C2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251960"/>
            <a:ext cx="105613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chemeClr val="accent2"/>
                </a:solidFill>
              </a:rPr>
              <a:t>Clearview BI. See your business clearly.</a:t>
            </a:r>
            <a:endParaRPr sz="28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E54620C8-6D13-4348-9E61-9E12EAE6B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892040"/>
            <a:ext cx="105613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chemeClr val="bg1"/>
                </a:solidFill>
              </a:rPr>
              <a:t>Basmala Azab  |  Sara Basem  |  Shahd Elgouhary</a:t>
            </a:r>
            <a:endParaRPr sz="15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C68DB7F7-3418-4F1E-98BF-E89B489CF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440680"/>
            <a:ext cx="105613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00">
                <a:solidFill>
                  <a:srgbClr val="A7BDB6"/>
                </a:solidFill>
              </a:rPr>
              <a:t>Demo materials: https://drive.google.com/drive/folders/1Tt_gjh2BhU9H3v-cLi4IyI7QRTdyaRDh?usp=sharing</a:t>
            </a:r>
            <a:endParaRPr sz="100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00">
                <a:solidFill>
                  <a:srgbClr val="A7BDB6"/>
                </a:solidFill>
              </a:rPr>
              <a:t>Source code: https://github.com/basmalaazab/Clearview-BI</a:t>
            </a:r>
            <a:endParaRPr sz="10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042A882A-AE52-4F06-B02B-D4F208F73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9880" y="6236208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>
                <a:solidFill>
                  <a:srgbClr val="A7BDB6"/>
                </a:solidFill>
              </a:rPr>
              <a:t>7 / 7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1464021911"/>
      </p:ext>
    </p:extLst>
  </p:cSld>
</p:sld>
</file>

<file path=ppt/theme/theme1.xml><?xml version="1.0" encoding="utf-8"?>
<a:theme xmlns:a="http://schemas.openxmlformats.org/drawingml/2006/main" name="Clearview BI Emerald">
  <a:themeElements>
    <a:clrScheme name="Clearview BI Emerald">
      <a:dk1>
        <a:srgbClr val="0B2B26"/>
      </a:dk1>
      <a:lt1>
        <a:srgbClr val="FFFFFF"/>
      </a:lt1>
      <a:dk2>
        <a:srgbClr val="13403B"/>
      </a:dk2>
      <a:lt2>
        <a:srgbClr val="F6F8F5"/>
      </a:lt2>
      <a:accent1>
        <a:srgbClr val="0F7A58"/>
      </a:accent1>
      <a:accent2>
        <a:srgbClr val="E8B04B"/>
      </a:accent2>
      <a:accent3>
        <a:srgbClr val="34D399"/>
      </a:accent3>
      <a:accent4>
        <a:srgbClr val="10B981"/>
      </a:accent4>
      <a:accent5>
        <a:srgbClr val="F87171"/>
      </a:accent5>
      <a:accent6>
        <a:srgbClr val="5E6F69"/>
      </a:accent6>
      <a:hlink>
        <a:srgbClr val="34D399"/>
      </a:hlink>
      <a:folHlink>
        <a:srgbClr val="5E6F69"/>
      </a:folHlink>
    </a:clrScheme>
    <a:fontScheme name="Clearview BI Emerald">
      <a:majorFont>
        <a:latin typeface="DM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DM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Clearview BI Emerald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2026-10-09T02:00:32.2520000Z</dcterms:created>
  <dcterms:modified xsi:type="dcterms:W3CDTF">2026-10-09T02:00:32.2520000Z</dcterms:modified>
</coreProperties>
</file>