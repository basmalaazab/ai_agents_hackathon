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ccfa24e2704f76" /><Relationship Type="http://schemas.openxmlformats.org/officeDocument/2006/relationships/extended-properties" Target="/docProps/app.xml" Id="Rf16d729a9ad64c6d" /><Relationship Type="http://schemas.openxmlformats.org/officeDocument/2006/relationships/officeDocument" Target="/ppt/presentation.xml" Id="Rd552781946d244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ca509cdf3a467a"/>
  </p:sldMasterIdLst>
  <p:notesMasterIdLst>
    <p:notesMasterId xmlns:r="http://schemas.openxmlformats.org/officeDocument/2006/relationships" r:id="R4800f854a1df4a6e"/>
  </p:notesMasterIdLst>
  <p:sldIdLst>
    <p:sldId xmlns:r="http://schemas.openxmlformats.org/officeDocument/2006/relationships" id="256" r:id="R8463a65efdac49d7"/>
    <p:sldId xmlns:r="http://schemas.openxmlformats.org/officeDocument/2006/relationships" id="257" r:id="R959f77ea2f974543"/>
    <p:sldId xmlns:r="http://schemas.openxmlformats.org/officeDocument/2006/relationships" id="258" r:id="Rc81ddbbd120f40a4"/>
    <p:sldId xmlns:r="http://schemas.openxmlformats.org/officeDocument/2006/relationships" id="259" r:id="R104456eb30fd4f56"/>
    <p:sldId xmlns:r="http://schemas.openxmlformats.org/officeDocument/2006/relationships" id="260" r:id="R67b9971f25344e68"/>
    <p:sldId xmlns:r="http://schemas.openxmlformats.org/officeDocument/2006/relationships" id="261" r:id="Rf3f5dd95aeab4224"/>
    <p:sldId xmlns:r="http://schemas.openxmlformats.org/officeDocument/2006/relationships" id="262" r:id="Ra608597daf194222"/>
    <p:sldId xmlns:r="http://schemas.openxmlformats.org/officeDocument/2006/relationships" id="263" r:id="Rdff71bdb9c734ce9"/>
    <p:sldId xmlns:r="http://schemas.openxmlformats.org/officeDocument/2006/relationships" id="264" r:id="Rd084f1900cbc4e8f"/>
    <p:sldId xmlns:r="http://schemas.openxmlformats.org/officeDocument/2006/relationships" id="265" r:id="R72cfdf1b04ba4b58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8352cedae14cf2" /><Relationship Type="http://schemas.openxmlformats.org/officeDocument/2006/relationships/slideMaster" Target="/ppt/slideMasters/slideMaster1.xml" Id="R67ca509cdf3a467a" /><Relationship Type="http://schemas.openxmlformats.org/officeDocument/2006/relationships/notesMaster" Target="/ppt/notesMasters/notesMaster1.xml" Id="R4800f854a1df4a6e" /><Relationship Type="http://schemas.openxmlformats.org/officeDocument/2006/relationships/presProps" Target="/ppt/presProps.xml" Id="R5cfe795269e14c8a" /><Relationship Type="http://schemas.openxmlformats.org/officeDocument/2006/relationships/viewProps" Target="/ppt/viewProps.xml" Id="R97e16be97a534dee" /><Relationship Type="http://schemas.openxmlformats.org/officeDocument/2006/relationships/tableStyles" Target="/ppt/tableStyles.xml" Id="R848e714ced8d4cae" /><Relationship Type="http://schemas.openxmlformats.org/officeDocument/2006/relationships/slide" Target="/ppt/slides/slide1.xml" Id="R8463a65efdac49d7" /><Relationship Type="http://schemas.openxmlformats.org/officeDocument/2006/relationships/slide" Target="/ppt/slides/slide2.xml" Id="R959f77ea2f974543" /><Relationship Type="http://schemas.openxmlformats.org/officeDocument/2006/relationships/slide" Target="/ppt/slides/slide3.xml" Id="Rc81ddbbd120f40a4" /><Relationship Type="http://schemas.openxmlformats.org/officeDocument/2006/relationships/slide" Target="/ppt/slides/slide4.xml" Id="R104456eb30fd4f56" /><Relationship Type="http://schemas.openxmlformats.org/officeDocument/2006/relationships/slide" Target="/ppt/slides/slide5.xml" Id="R67b9971f25344e68" /><Relationship Type="http://schemas.openxmlformats.org/officeDocument/2006/relationships/slide" Target="/ppt/slides/slide6.xml" Id="Rf3f5dd95aeab4224" /><Relationship Type="http://schemas.openxmlformats.org/officeDocument/2006/relationships/slide" Target="/ppt/slides/slide7.xml" Id="Ra608597daf194222" /><Relationship Type="http://schemas.openxmlformats.org/officeDocument/2006/relationships/slide" Target="/ppt/slides/slide8.xml" Id="Rdff71bdb9c734ce9" /><Relationship Type="http://schemas.openxmlformats.org/officeDocument/2006/relationships/slide" Target="/ppt/slides/slide9.xml" Id="Rd084f1900cbc4e8f" /><Relationship Type="http://schemas.openxmlformats.org/officeDocument/2006/relationships/slide" Target="/ppt/slides/slide10.xml" Id="R72cfdf1b04ba4b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34c9793b6047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e0c8518054598" /><Relationship Type="http://schemas.openxmlformats.org/officeDocument/2006/relationships/notesMaster" Target="/ppt/notesMasters/notesMaster1.xml" Id="Rd08c7988bf7446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b90cdb343e4945" /><Relationship Type="http://schemas.openxmlformats.org/officeDocument/2006/relationships/notesMaster" Target="/ppt/notesMasters/notesMaster1.xml" Id="R43687dab66da45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1a33bf0c814b4a" /><Relationship Type="http://schemas.openxmlformats.org/officeDocument/2006/relationships/notesMaster" Target="/ppt/notesMasters/notesMaster1.xml" Id="R95653b4578a148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f73e6adbf342d8" /><Relationship Type="http://schemas.openxmlformats.org/officeDocument/2006/relationships/notesMaster" Target="/ppt/notesMasters/notesMaster1.xml" Id="R4aa868b9ebb041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5f6f7548b34167" /><Relationship Type="http://schemas.openxmlformats.org/officeDocument/2006/relationships/notesMaster" Target="/ppt/notesMasters/notesMaster1.xml" Id="Rd0b851a264db4c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20f9c129df4d97" /><Relationship Type="http://schemas.openxmlformats.org/officeDocument/2006/relationships/notesMaster" Target="/ppt/notesMasters/notesMaster1.xml" Id="R0f3125100c1c4b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ec2a36e14e46de" /><Relationship Type="http://schemas.openxmlformats.org/officeDocument/2006/relationships/notesMaster" Target="/ppt/notesMasters/notesMaster1.xml" Id="R4d867408166649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a0a1b0cbfe44f2" /><Relationship Type="http://schemas.openxmlformats.org/officeDocument/2006/relationships/notesMaster" Target="/ppt/notesMasters/notesMaster1.xml" Id="R35e1bc29a20b49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cb7658fb0a41f7" /><Relationship Type="http://schemas.openxmlformats.org/officeDocument/2006/relationships/notesMaster" Target="/ppt/notesMasters/notesMaster1.xml" Id="R01a62fa7d8934f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c01b2e51464b21" /><Relationship Type="http://schemas.openxmlformats.org/officeDocument/2006/relationships/notesMaster" Target="/ppt/notesMasters/notesMaster1.xml" Id="Rb21278e120724d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422f5d28948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50a6f23c245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df0092d304a5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2C370A-FE69-44EE-ADCE-E50C5B99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362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Clearview BI</a:t>
            </a:r>
            <a:endParaRPr sz="1200"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8DBEA7-1186-408B-8360-9A6D6B6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236208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E6F69"/>
                </a:solidFill>
              </a:rPr>
              <a:t>Clearview BI</a:t>
            </a:r>
            <a:endParaRPr sz="1200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5c694e2e7a4d88" /><Relationship Type="http://schemas.openxmlformats.org/officeDocument/2006/relationships/slideLayout" Target="/ppt/slideLayouts/slideLayout1.xml" Id="R9165dcb0786d401d" /><Relationship Type="http://schemas.openxmlformats.org/officeDocument/2006/relationships/slideLayout" Target="/ppt/slideLayouts/slideLayout2.xml" Id="R0b66928cda38462f" /><Relationship Type="http://schemas.openxmlformats.org/officeDocument/2006/relationships/slideLayout" Target="/ppt/slideLayouts/slideLayout3.xml" Id="R555332ce0bec47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65dcb0786d401d"/>
    <p:sldLayoutId xmlns:r="http://schemas.openxmlformats.org/officeDocument/2006/relationships" id="2147483650" r:id="R0b66928cda38462f"/>
    <p:sldLayoutId xmlns:r="http://schemas.openxmlformats.org/officeDocument/2006/relationships" id="2147483651" r:id="R555332ce0bec47d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8435469e7145e2" /><Relationship Type="http://schemas.openxmlformats.org/officeDocument/2006/relationships/notesSlide" Target="/ppt/notesSlides/notesSlide1.xml" Id="Rb03e483e448946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a28835685d423a" /><Relationship Type="http://schemas.openxmlformats.org/officeDocument/2006/relationships/notesSlide" Target="/ppt/notesSlides/notesSlide2.xml" Id="Ra23d79d0e75c46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e7a06787b04903" /><Relationship Type="http://schemas.openxmlformats.org/officeDocument/2006/relationships/notesSlide" Target="/ppt/notesSlides/notesSlide3.xml" Id="Rfdbd025292c8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410e146cd24763" /><Relationship Type="http://schemas.openxmlformats.org/officeDocument/2006/relationships/notesSlide" Target="/ppt/notesSlides/notesSlide4.xml" Id="Rb89b9a569f654a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c0f5aa010ca42d0" /><Relationship Type="http://schemas.openxmlformats.org/officeDocument/2006/relationships/chart" Target="/ppt/slides/charts/chart1.xml" Id="Re87e965ad64b4afa" /><Relationship Type="http://schemas.openxmlformats.org/officeDocument/2006/relationships/notesSlide" Target="/ppt/notesSlides/notesSlide5.xml" Id="Reef26615e7aa4c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be639d92124a61" /><Relationship Type="http://schemas.openxmlformats.org/officeDocument/2006/relationships/notesSlide" Target="/ppt/notesSlides/notesSlide6.xml" Id="Rb99251f62d8645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a10dc59cae402b" /><Relationship Type="http://schemas.openxmlformats.org/officeDocument/2006/relationships/notesSlide" Target="/ppt/notesSlides/notesSlide7.xml" Id="Raece58c34fb642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f23bed3f194d48" /><Relationship Type="http://schemas.openxmlformats.org/officeDocument/2006/relationships/notesSlide" Target="/ppt/notesSlides/notesSlide8.xml" Id="R02ba7b782de04b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10d0dea793341a3" /><Relationship Type="http://schemas.openxmlformats.org/officeDocument/2006/relationships/notesSlide" Target="/ppt/notesSlides/notesSlide9.xml" Id="Rcda007b4b317497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2779fc18744a18" /><Relationship Type="http://schemas.openxmlformats.org/officeDocument/2006/relationships/notesSlide" Target="/ppt/notesSlides/notesSlide10.xml" Id="Re94b0c6fc4a24a0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>
                <a:solidFill>
                  <a:srgbClr val="5E6F69"/>
                </a:solidFill>
              </a:rPr>
              <a:t>Revenue by 6-day period (USD) • last 30 days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E6F69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Revenue (USD)</c:v>
          </c:tx>
          <c:spPr>
            <a:solidFill xmlns:a="http://schemas.openxmlformats.org/drawingml/2006/main">
              <a:srgbClr val="0F7A58"/>
            </a:solidFill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Sep 9–14</c:v>
                </c:pt>
                <c:pt idx="1">
                  <c:v>Sep 15–20</c:v>
                </c:pt>
                <c:pt idx="2">
                  <c:v>Sep 21–26</c:v>
                </c:pt>
                <c:pt idx="3">
                  <c:v>Sep 27–Oct 2</c:v>
                </c:pt>
                <c:pt idx="4">
                  <c:v>Oct 3–8</c:v>
                </c:pt>
              </c:strCache>
            </c:strRef>
          </c:cat>
          <c:val>
            <c:numRef>
              <c:f>'Chart Data'!$B$2:$B$6</c:f>
              <c:numCache>
                <c:formatCode>$#,##0</c:formatCode>
                <c:ptCount val="5"/>
                <c:pt idx="0">
                  <c:v>3752.89</c:v>
                </c:pt>
                <c:pt idx="1">
                  <c:v>6111.89</c:v>
                </c:pt>
                <c:pt idx="2">
                  <c:v>6741.83</c:v>
                </c:pt>
                <c:pt idx="3">
                  <c:v>4478.86</c:v>
                </c:pt>
                <c:pt idx="4">
                  <c:v>2039.95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F6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5"/>
              </a:solidFill>
              <a:prstDash val="solid"/>
            </a:ln>
          </c:spPr>
        </c:majorGridlines>
        <c:numFmt formatCode="$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F69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B0E592-ECF9-46D7-8036-77CB34F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517904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334"/>
          </a:solidFill>
          <a:ln xmlns:a="http://schemas.openxmlformats.org/drawingml/2006/main" w="12700">
            <a:solidFill>
              <a:srgbClr val="0A4334"/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525560E-7177-498F-89EC-4E96AB9F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96" y="3566160"/>
            <a:ext cx="1901952" cy="190195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24000"/>
            </a:schemeClr>
          </a:solidFill>
          <a:ln xmlns:a="http://schemas.openxmlformats.org/drawingml/2006/main" w="12700">
            <a:solidFill>
              <a:schemeClr val="accent2">
                <a:alpha val="0"/>
              </a:scheme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1337FC2-9AD2-4E69-9F93-9EA3C83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83080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300">
                <a:solidFill>
                  <a:schemeClr val="accent3"/>
                </a:solidFill>
              </a:rPr>
              <a:t>AGENTS AT WORK HACKATHON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6B66EFE-31C4-4A09-8C03-6C91874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11680"/>
            <a:ext cx="7498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800" b="1">
                <a:solidFill>
                  <a:schemeClr val="bg1"/>
                </a:solidFill>
              </a:rPr>
              <a:t>Clearview BI</a:t>
            </a:r>
            <a:endParaRPr sz="8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1287055-AF6B-43B8-943C-2CDC214A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11880"/>
            <a:ext cx="69494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3200">
                <a:solidFill>
                  <a:schemeClr val="accent3"/>
                </a:solidFill>
              </a:rPr>
              <a:t>One clear view.</a:t>
            </a:r>
            <a:endParaRPr sz="32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3200">
                <a:solidFill>
                  <a:schemeClr val="accent3"/>
                </a:solidFill>
              </a:rPr>
              <a:t>Better next moves.</a:t>
            </a:r>
            <a:endParaRPr sz="3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9815E53-C98A-4D4C-924F-00EF24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4632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>
                <a:solidFill>
                  <a:srgbClr val="A7BDB6"/>
                </a:solidFill>
              </a:rPr>
              <a:t>Business intelligence and an AI analyst for startups and small businesses</a:t>
            </a:r>
            <a:endParaRPr sz="17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8366916-8010-4B7A-882A-D0D8F26C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064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Basmala Azab  |  Sara Basem  |  Shahd Elgouhary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6823710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E451C7-6188-44E3-B6E2-27F464E5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01  THE PROBLEM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B8209C-781D-4EFF-8FAD-C9971947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Scattered data hides how the business is doing</a:t>
            </a:r>
            <a:endParaRPr sz="3200"/>
          </a:p>
        </p:txBody>
      </p:sp>
      <p:sp>
        <p:nvSpPr>
          <p:cNvPr id="4" name="Problem card 1">
            <a:extLst xmlns:a="http://schemas.openxmlformats.org/drawingml/2006/main">
              <a:ext uri="{FF2B5EF4-FFF2-40B4-BE49-F238E27FC236}">
                <a16:creationId xmlns:a16="http://schemas.microsoft.com/office/drawing/2014/main" id="{7A857F19-C1E0-47D2-8E82-7739F057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FBF3D2-7F39-455A-A592-D27A2DA3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Data lives everywhere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C849763-48CE-4F09-9F70-2073BADC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Payments, online stores and CSV files each hold a separate piece of the picture.</a:t>
            </a:r>
            <a:endParaRPr sz="1500"/>
          </a:p>
        </p:txBody>
      </p:sp>
      <p:sp>
        <p:nvSpPr>
          <p:cNvPr id="7" name="Problem card 2">
            <a:extLst xmlns:a="http://schemas.openxmlformats.org/drawingml/2006/main">
              <a:ext uri="{FF2B5EF4-FFF2-40B4-BE49-F238E27FC236}">
                <a16:creationId xmlns:a16="http://schemas.microsoft.com/office/drawing/2014/main" id="{936C575F-8C50-4645-8994-0141CF21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CF3863A-4510-4E6C-B05E-93A01E52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No single view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CE05D37-C3F2-4C38-8ABF-196D67E3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Revenue, orders, customers and stock are hard to see together.</a:t>
            </a:r>
            <a:endParaRPr sz="1500"/>
          </a:p>
        </p:txBody>
      </p:sp>
      <p:sp>
        <p:nvSpPr>
          <p:cNvPr id="10" name="Problem card 3">
            <a:extLst xmlns:a="http://schemas.openxmlformats.org/drawingml/2006/main">
              <a:ext uri="{FF2B5EF4-FFF2-40B4-BE49-F238E27FC236}">
                <a16:creationId xmlns:a16="http://schemas.microsoft.com/office/drawing/2014/main" id="{8B142DFE-AB45-42E0-B5A0-6D07E7E0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14600"/>
            <a:ext cx="3383280" cy="2148840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D697AF4-5DB0-46AC-9890-73AE99E0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1"/>
                </a:solidFill>
              </a:rPr>
              <a:t>Harder decisions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AB2D5C0-5D82-43EC-AE1B-55D9EAB2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383280"/>
            <a:ext cx="2834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Without one clear view, it is harder to understand performance and decide with confidence.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5B5584-4438-4A00-9D85-13952F6D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57800"/>
            <a:ext cx="10561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tx1"/>
                </a:solidFill>
              </a:rPr>
              <a:t>The result: it is harder to make informed decisions.</a:t>
            </a:r>
            <a:endParaRPr sz="1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7EFB976-D14B-47A6-837A-AB45DBEA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2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9546307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FC6881-53F1-499B-AB5B-D54A8165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02  THE SOLUTION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E51679-02D1-4A56-8E1A-026E6A53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From scattered data to confident decisions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D53ADC3-83B9-404E-B30B-7D8C865A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9751682-5B80-4E1F-BF8C-5955FF87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28600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Company workspaces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1755C9-7FA8-47FB-AD45-9962FE3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3347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Each business gets its own workspace for data and its team.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143D48D-753F-42CE-96A8-F08B02A8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A879B3-9DB7-40FF-A79B-5AF4011E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24612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CSV + Stripe Test Mode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FEBC4BE-24E0-4D24-89E0-E76C30D2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59359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Import business files or sync Stripe test data. Supported currencies convert to USD at available daily rates.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19454D4-C95F-4690-B985-F7BD5239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0624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9FDACAA-2FA0-4870-A339-43685948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0624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Analytics &amp; alerts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546E060-0AA1-42B4-AB15-FC537D3D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5371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KPIs, trends, low-stock alerts and RFM customer segments.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17DA5D4-0268-4AF5-AB5E-72DB7917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6636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BF8C62A-D24B-456E-AC47-DEF5AED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6636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AI Business Analyst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B530B1-FBD1-46A3-B5A7-19ABE9BC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51383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Optional AI: OpenAI first, Gemini fallback; built-in analysis stays available.</a:t>
            </a:r>
            <a:endParaRPr sz="1400"/>
          </a:p>
        </p:txBody>
      </p:sp>
      <p:sp>
        <p:nvSpPr>
          <p:cNvPr id="16" name="Example card">
            <a:extLst xmlns:a="http://schemas.openxmlformats.org/drawingml/2006/main">
              <a:ext uri="{FF2B5EF4-FFF2-40B4-BE49-F238E27FC236}">
                <a16:creationId xmlns:a16="http://schemas.microsoft.com/office/drawing/2014/main" id="{6E97770D-A4FD-49D3-8ECD-04EE812A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377440"/>
            <a:ext cx="4562856" cy="3611880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D4AB568-142B-40EC-855C-13C79BB0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60604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ILLUSTRATIVE EXAMPLE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55BF696-385D-4370-8A07-BAF672A5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92608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chemeClr val="bg1"/>
                </a:solidFill>
              </a:rPr>
              <a:t>Is our top product at stockout risk?</a:t>
            </a:r>
            <a:endParaRPr sz="17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A92616F-14D0-48A4-8801-A557CFD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703320"/>
            <a:ext cx="3931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4E48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FADCB62-B121-4DB8-A13C-DB1BCC9F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4048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EVIDENCE</a:t>
            </a:r>
            <a:endParaRPr sz="1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181826C-41E4-4134-BDF0-09AC4A82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11480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4 units left • about 5.2 days of cover • 23 sold in 30 days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5F15930-8E0C-4367-B88A-7AB8C8A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463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2"/>
                </a:solidFill>
              </a:rPr>
              <a:t>SUGGESTION TO VALIDATE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5FA0385-81CD-49FE-946F-8AD385CD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5120640"/>
            <a:ext cx="39319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bg1"/>
                </a:solidFill>
              </a:rPr>
              <a:t>Prepare a suggested reorder quantity for manager review. No order is placed.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08D2FF4-D6D0-4EAA-BC3F-4515067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3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964347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ECBED5C-2EB9-40F3-BC02-8DFE527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03  HOW IT WORKS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FD6E9E-966B-447C-9361-9B2F6645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Three steps from scattered data to insight</a:t>
            </a:r>
            <a:endParaRPr sz="3200"/>
          </a:p>
        </p:txBody>
      </p:sp>
      <p:sp>
        <p:nvSpPr>
          <p:cNvPr id="4" name="Step card 1">
            <a:extLst xmlns:a="http://schemas.openxmlformats.org/drawingml/2006/main">
              <a:ext uri="{FF2B5EF4-FFF2-40B4-BE49-F238E27FC236}">
                <a16:creationId xmlns:a16="http://schemas.microsoft.com/office/drawing/2014/main" id="{73EB92EE-BBA3-43F4-A571-26DE7A7B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3154680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64707D-8157-4039-8F11-BEDE44F0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1</a:t>
            </a:r>
            <a:endParaRPr sz="4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E227AA7-9850-42E2-929F-40CB84CC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91840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Create a workspace</a:t>
            </a:r>
            <a:endParaRPr sz="2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94ABEF9-D8EA-43FF-8E0B-2A3DC367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49040"/>
            <a:ext cx="2606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Set up a company account with its own separate workspace.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179142-E526-4F55-BD79-4C4051AB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520440"/>
            <a:ext cx="457200" cy="25603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9" name="Step card 2">
            <a:extLst xmlns:a="http://schemas.openxmlformats.org/drawingml/2006/main">
              <a:ext uri="{FF2B5EF4-FFF2-40B4-BE49-F238E27FC236}">
                <a16:creationId xmlns:a16="http://schemas.microsoft.com/office/drawing/2014/main" id="{DD107DFC-46C8-4EAB-B49F-6CB215F6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377440"/>
            <a:ext cx="3154680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D74B6C4-C421-435E-80F4-AAF6E800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2</a:t>
            </a:r>
            <a:endParaRPr sz="4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5643FA-09FE-488B-BA1A-E0E7B357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1840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Bring in your data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820588-B82C-4139-9154-4B8357B9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49040"/>
            <a:ext cx="2606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Import CSV files, or connect Stripe using a test key.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29D4F9-3944-4F52-9082-BC2121E3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3520440"/>
            <a:ext cx="457200" cy="25603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14" name="Step card 3">
            <a:extLst xmlns:a="http://schemas.openxmlformats.org/drawingml/2006/main">
              <a:ext uri="{FF2B5EF4-FFF2-40B4-BE49-F238E27FC236}">
                <a16:creationId xmlns:a16="http://schemas.microsoft.com/office/drawing/2014/main" id="{3634347F-D778-4069-95B0-01C2F29A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7440"/>
            <a:ext cx="3154680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DA8FAAD-CD19-4BE2-9779-675DE5DE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514600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3</a:t>
            </a:r>
            <a:endParaRPr sz="4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546AF56-B804-4E28-8B47-91A72B16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91840"/>
            <a:ext cx="2606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tx1"/>
                </a:solidFill>
              </a:rPr>
              <a:t>Review dashboard</a:t>
            </a:r>
            <a:endParaRPr sz="2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824E6BB-43A1-4103-BA2A-1C636DB4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749040"/>
            <a:ext cx="26060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See metrics and alerts, then ask the AI Business Analyst.</a:t>
            </a:r>
            <a:endParaRPr sz="1400"/>
          </a:p>
        </p:txBody>
      </p:sp>
      <p:sp>
        <p:nvSpPr>
          <p:cNvPr id="18" name="Stripe note">
            <a:extLst xmlns:a="http://schemas.openxmlformats.org/drawingml/2006/main">
              <a:ext uri="{FF2B5EF4-FFF2-40B4-BE49-F238E27FC236}">
                <a16:creationId xmlns:a16="http://schemas.microsoft.com/office/drawing/2014/main" id="{CBA52244-18D8-427E-8A35-74CC0221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20640"/>
            <a:ext cx="1056132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5795EDD-689A-4A31-BF61-ABDFF0EE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0640"/>
            <a:ext cx="99212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chemeClr val="accent3"/>
                </a:solidFill>
              </a:rPr>
              <a:t>Stripe Test Mode sync is available. Dashboard figures in this deck use imported demo data.</a:t>
            </a:r>
            <a:endParaRPr sz="1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2296654-8146-4DDF-8100-10CC1F4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4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04367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C5F8784-74DE-4D9F-B319-075839BD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04  THE DASHBOARD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732551A-493B-47C1-A9C3-903B26AF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Illustrative 30-day sample-data snapshot</a:t>
            </a:r>
            <a:endParaRPr sz="3200"/>
          </a:p>
        </p:txBody>
      </p:sp>
      <p:sp>
        <p:nvSpPr>
          <p:cNvPr id="4" name="KPI REVENUE">
            <a:extLst xmlns:a="http://schemas.openxmlformats.org/drawingml/2006/main">
              <a:ext uri="{FF2B5EF4-FFF2-40B4-BE49-F238E27FC236}">
                <a16:creationId xmlns:a16="http://schemas.microsoft.com/office/drawing/2014/main" id="{24B71043-B42E-4F96-BA9B-5EB5568D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48EA5B-7194-4295-ADA7-C055FEEB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REVENUE (USD)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B583B2C-2472-48F6-92C8-64DAFB68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$23,125.42</a:t>
            </a:r>
            <a:endParaRPr sz="1500"/>
          </a:p>
        </p:txBody>
      </p:sp>
      <p:sp>
        <p:nvSpPr>
          <p:cNvPr id="7" name="KPI ORDERS">
            <a:extLst xmlns:a="http://schemas.openxmlformats.org/drawingml/2006/main">
              <a:ext uri="{FF2B5EF4-FFF2-40B4-BE49-F238E27FC236}">
                <a16:creationId xmlns:a16="http://schemas.microsoft.com/office/drawing/2014/main" id="{5DBF8E3B-8B3E-4BFD-9219-361384DE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86A2534-B637-4A6B-946C-1AC3A0ED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ORDERS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3A8C024-3726-4C26-B544-9A87F62D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66</a:t>
            </a:r>
            <a:endParaRPr sz="1500"/>
          </a:p>
        </p:txBody>
      </p:sp>
      <p:sp>
        <p:nvSpPr>
          <p:cNvPr id="10" name="KPI CUSTOMERS">
            <a:extLst xmlns:a="http://schemas.openxmlformats.org/drawingml/2006/main">
              <a:ext uri="{FF2B5EF4-FFF2-40B4-BE49-F238E27FC236}">
                <a16:creationId xmlns:a16="http://schemas.microsoft.com/office/drawing/2014/main" id="{04693771-FF48-4D48-BE4D-290B355F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CE99AE5-A8D7-407C-9510-3FC37B48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CUSTOMERS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AA5A93-6D32-4EE0-9AB5-8A986C57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10 active</a:t>
            </a:r>
            <a:endParaRPr sz="1500"/>
          </a:p>
        </p:txBody>
      </p:sp>
      <p:sp>
        <p:nvSpPr>
          <p:cNvPr id="13" name="KPI PRODUCTS">
            <a:extLst xmlns:a="http://schemas.openxmlformats.org/drawingml/2006/main">
              <a:ext uri="{FF2B5EF4-FFF2-40B4-BE49-F238E27FC236}">
                <a16:creationId xmlns:a16="http://schemas.microsoft.com/office/drawing/2014/main" id="{47194877-DB56-483D-9739-8622075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90E457-B2A2-46E4-8795-65FDF704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PRODUCTS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BB2B035-0A7F-4ADE-9E64-9023D9BC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20</a:t>
            </a:r>
            <a:endParaRPr sz="1500"/>
          </a:p>
        </p:txBody>
      </p:sp>
      <p:sp>
        <p:nvSpPr>
          <p:cNvPr id="16" name="KPI INVENTORY">
            <a:extLst xmlns:a="http://schemas.openxmlformats.org/drawingml/2006/main">
              <a:ext uri="{FF2B5EF4-FFF2-40B4-BE49-F238E27FC236}">
                <a16:creationId xmlns:a16="http://schemas.microsoft.com/office/drawing/2014/main" id="{A54BC5B8-B748-48C3-9C43-522F8F2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2103120"/>
            <a:ext cx="196596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BE6545C-4EF7-499F-9DDC-D6931D7F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40280"/>
            <a:ext cx="1600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">
                <a:solidFill>
                  <a:schemeClr val="accent6"/>
                </a:solidFill>
              </a:rPr>
              <a:t>INVENTORY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F088B1-8762-482A-B058-8E0535A8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6032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chemeClr val="tx1"/>
                </a:solidFill>
              </a:rPr>
              <a:t>1 flagged</a:t>
            </a:r>
            <a:endParaRPr sz="1500"/>
          </a:p>
        </p:txBody>
      </p:sp>
      <p:sp>
        <p:nvSpPr>
          <p:cNvPr id="19" name="Chart card">
            <a:extLst xmlns:a="http://schemas.openxmlformats.org/drawingml/2006/main">
              <a:ext uri="{FF2B5EF4-FFF2-40B4-BE49-F238E27FC236}">
                <a16:creationId xmlns:a16="http://schemas.microsoft.com/office/drawing/2014/main" id="{56BE184B-199A-4C0D-BDF9-D015AD7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46120"/>
            <a:ext cx="635508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21" name="Alerts card">
            <a:extLst xmlns:a="http://schemas.openxmlformats.org/drawingml/2006/main">
              <a:ext uri="{FF2B5EF4-FFF2-40B4-BE49-F238E27FC236}">
                <a16:creationId xmlns:a16="http://schemas.microsoft.com/office/drawing/2014/main" id="{C4DB7551-9210-4659-8E3D-7EB990A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3246120"/>
            <a:ext cx="4023360" cy="27432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F4ABDCD-F430-494A-8545-991C1886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429000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3"/>
                </a:solidFill>
              </a:rPr>
              <a:t>ALERTS AND SUGGESTIONS</a:t>
            </a:r>
            <a:endParaRPr sz="12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6260C9C-31F2-4006-B432-EB55DB53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95020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12700">
            <a:solidFill>
              <a:schemeClr val="accent2"/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D0F42DCD-6D44-4E56-A29E-9F0BFF4D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8620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bg1"/>
                </a:solidFill>
              </a:rPr>
              <a:t>Low stock: 4K Monitor</a:t>
            </a:r>
            <a:endParaRPr sz="1800"/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F5EEE1FA-E228-4362-AC3D-FB77D5F8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33672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7BDB6"/>
                </a:solidFill>
              </a:rPr>
              <a:t>4 left • about 5.2 days of cover • review a reorder draft</a:t>
            </a:r>
            <a:endParaRPr sz="1300"/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73361AF5-54ED-462B-B783-8B39AEDA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91032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12700">
            <a:solidFill>
              <a:schemeClr val="accent5"/>
            </a:solidFill>
            <a:prstDash val="solid"/>
          </a:ln>
        </p:spPr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D2C2758A-264E-4B31-B682-805A865E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46320"/>
            <a:ext cx="3108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bg1"/>
                </a:solidFill>
              </a:rPr>
              <a:t>High cancellation rate</a:t>
            </a:r>
            <a:endParaRPr sz="18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66494E4-21D0-440A-A66D-377971D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3792"/>
            <a:ext cx="31089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A7BDB6"/>
                </a:solidFill>
              </a:rPr>
              <a:t>25.84% (23 orders) in the last 30 days</a:t>
            </a:r>
            <a:endParaRPr sz="1300"/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EDF8A2E-33FE-479E-87B8-406A2550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5 / 10</a:t>
            </a:r>
            <a:endParaRPr sz="1200"/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7F55DB95-DE2C-4139-A25E-5E93C33E5715}"/>
              </a:ext>
            </a:extLst>
          </p:cNvPr>
          <p:cNvGraphicFramePr/>
          <p:nvPr/>
        </p:nvGraphicFramePr>
        <p:xfrm>
          <a:off xmlns:a="http://schemas.openxmlformats.org/drawingml/2006/main" x="1005840" y="3337560"/>
          <a:ext xmlns:a="http://schemas.openxmlformats.org/drawingml/2006/main" cx="5989320" cy="256032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7e965ad64b4afa"/>
          </a:graphicData>
        </a:graphic>
      </p:graphicFrame>
    </p:spTree>
    <p:extLst>
      <p:ext uri="{BB962C8B-B14F-4D97-AF65-F5344CB8AC3E}">
        <p14:creationId xmlns:p14="http://schemas.microsoft.com/office/powerpoint/2010/main" val="12292531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05EBEB6-0680-4903-B7E0-22A7AC48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3"/>
                </a:solidFill>
              </a:rPr>
              <a:t>05  AI BUSINESS ANALYST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32D21A4-8BBD-4693-A1EF-8AAA1D16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Answers that show their evidence</a:t>
            </a:r>
            <a:endParaRPr sz="4000"/>
          </a:p>
        </p:txBody>
      </p:sp>
      <p:sp>
        <p:nvSpPr>
          <p:cNvPr id="4" name="Analyst card 1">
            <a:extLst xmlns:a="http://schemas.openxmlformats.org/drawingml/2006/main">
              <a:ext uri="{FF2B5EF4-FFF2-40B4-BE49-F238E27FC236}">
                <a16:creationId xmlns:a16="http://schemas.microsoft.com/office/drawing/2014/main" id="{AB3F0993-BAF7-4F9B-87E7-398928E4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00536C0-2EB3-42CA-9B53-C27225E0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Uses your data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C34200C-5AB1-408C-B028-E317736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A built-in analyst grounds each answer in measured company metrics.</a:t>
            </a:r>
            <a:endParaRPr sz="1500"/>
          </a:p>
        </p:txBody>
      </p:sp>
      <p:sp>
        <p:nvSpPr>
          <p:cNvPr id="7" name="Analyst card 2">
            <a:extLst xmlns:a="http://schemas.openxmlformats.org/drawingml/2006/main">
              <a:ext uri="{FF2B5EF4-FFF2-40B4-BE49-F238E27FC236}">
                <a16:creationId xmlns:a16="http://schemas.microsoft.com/office/drawing/2014/main" id="{9CD799D7-3D84-41EF-A2EC-8BC0D25C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B77949-1B83-458B-ABA0-53F4E19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Shows its evidence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487835-3689-4175-877D-4357FF8E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Every response names its period, sources and available data coverage.</a:t>
            </a:r>
            <a:endParaRPr sz="1500"/>
          </a:p>
        </p:txBody>
      </p:sp>
      <p:sp>
        <p:nvSpPr>
          <p:cNvPr id="10" name="Analyst card 3">
            <a:extLst xmlns:a="http://schemas.openxmlformats.org/drawingml/2006/main">
              <a:ext uri="{FF2B5EF4-FFF2-40B4-BE49-F238E27FC236}">
                <a16:creationId xmlns:a16="http://schemas.microsoft.com/office/drawing/2014/main" id="{E3072101-69EA-417A-B5C3-A0CC9058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77440"/>
            <a:ext cx="3383280" cy="18288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EC551B-1BFF-43EC-A040-63969831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97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Admits its limits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7482861-0C80-4286-A619-7737153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20040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It flags missing context instead of inventing a cause.</a:t>
            </a:r>
            <a:endParaRPr sz="1500"/>
          </a:p>
        </p:txBody>
      </p:sp>
      <p:sp>
        <p:nvSpPr>
          <p:cNvPr id="13" name="Chip Period: [PLACEHOLDER]">
            <a:extLst xmlns:a="http://schemas.openxmlformats.org/drawingml/2006/main">
              <a:ext uri="{FF2B5EF4-FFF2-40B4-BE49-F238E27FC236}">
                <a16:creationId xmlns:a16="http://schemas.microsoft.com/office/drawing/2014/main" id="{366FA54A-A8FF-466C-B81C-7B2ECE4E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26517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F9A5598-FA98-40DE-AA3B-76264FF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Period: Last 30 days</a:t>
            </a:r>
            <a:endParaRPr sz="1400"/>
          </a:p>
        </p:txBody>
      </p:sp>
      <p:sp>
        <p:nvSpPr>
          <p:cNvPr id="15" name="Chip Sources: [PLACEHOLDER]">
            <a:extLst xmlns:a="http://schemas.openxmlformats.org/drawingml/2006/main">
              <a:ext uri="{FF2B5EF4-FFF2-40B4-BE49-F238E27FC236}">
                <a16:creationId xmlns:a16="http://schemas.microsoft.com/office/drawing/2014/main" id="{F1D61E69-0D62-49BE-9CAF-F338724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0560"/>
            <a:ext cx="2651760" cy="50292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A85A893-50B9-4F8B-9DFD-BC96D28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0560"/>
            <a:ext cx="2651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chemeClr val="bg1"/>
                </a:solidFill>
              </a:rPr>
              <a:t>Sources: Imported demo data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FE8AC17-C89B-4F16-B2E3-D5E2D70C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61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2"/>
                </a:solidFill>
              </a:rPr>
              <a:t>Optional AI: OpenAI → Gemini fallback • streamed answers; built-in analyst always available.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2C7FF21-BBDA-4B3C-B649-9E104464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7BDB6"/>
                </a:solidFill>
              </a:rPr>
              <a:t>6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0672638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28FCE8-ABA8-4900-B2C3-4E27FD42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06  DEMO SCENARIO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144F5CA-FAB1-470F-B90E-CA0D5B88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Turn an alert into a reviewed next step</a:t>
            </a:r>
            <a:endParaRPr sz="3200"/>
          </a:p>
        </p:txBody>
      </p:sp>
      <p:sp>
        <p:nvSpPr>
          <p:cNvPr id="4" name="Demo step 1">
            <a:extLst xmlns:a="http://schemas.openxmlformats.org/drawingml/2006/main">
              <a:ext uri="{FF2B5EF4-FFF2-40B4-BE49-F238E27FC236}">
                <a16:creationId xmlns:a16="http://schemas.microsoft.com/office/drawing/2014/main" id="{F9410BAC-19BC-44F7-93EE-855005AF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6000"/>
            <a:ext cx="2489454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D90A3A7-090E-4D9A-866E-722F57D3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395728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1</a:t>
            </a:r>
            <a:endParaRPr sz="4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A7545FB-1CA9-43D6-971E-072CFCCC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154680"/>
            <a:ext cx="203225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Load data</a:t>
            </a:r>
            <a:endParaRPr sz="18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66DD324-99E4-4D33-9E1D-FDA8C75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11880"/>
            <a:ext cx="203225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Import a CSV file or sync Stripe in test mode.</a:t>
            </a:r>
            <a:endParaRPr sz="1400"/>
          </a:p>
        </p:txBody>
      </p:sp>
      <p:sp>
        <p:nvSpPr>
          <p:cNvPr id="8" name="Demo step 2">
            <a:extLst xmlns:a="http://schemas.openxmlformats.org/drawingml/2006/main">
              <a:ext uri="{FF2B5EF4-FFF2-40B4-BE49-F238E27FC236}">
                <a16:creationId xmlns:a16="http://schemas.microsoft.com/office/drawing/2014/main" id="{57528D47-5277-4DFA-BE9E-9101BE75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582" y="2286000"/>
            <a:ext cx="2489454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3529AB-54E5-4F71-AB61-DB2CFD87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902" y="2395728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2</a:t>
            </a:r>
            <a:endParaRPr sz="4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CAE157-A2CE-44B2-A2AE-0C82A648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902" y="3154680"/>
            <a:ext cx="203225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Open dashboard</a:t>
            </a:r>
            <a:endParaRPr sz="1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9D79C23-1BAA-4226-960D-AF3AEBC6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7902" y="3611880"/>
            <a:ext cx="203225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Review revenue, orders, customers, products and stock.</a:t>
            </a:r>
            <a:endParaRPr sz="1400"/>
          </a:p>
        </p:txBody>
      </p:sp>
      <p:sp>
        <p:nvSpPr>
          <p:cNvPr id="12" name="Demo step 3">
            <a:extLst xmlns:a="http://schemas.openxmlformats.org/drawingml/2006/main">
              <a:ext uri="{FF2B5EF4-FFF2-40B4-BE49-F238E27FC236}">
                <a16:creationId xmlns:a16="http://schemas.microsoft.com/office/drawing/2014/main" id="{ADAD8A25-0A1E-45D8-90C1-1A2447D4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204" y="2286000"/>
            <a:ext cx="2489454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B9532E-59FC-4A87-879E-E4CB515E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2395728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3</a:t>
            </a:r>
            <a:endParaRPr sz="4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8F5528-9499-4C4C-A95F-3814F1AF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3154680"/>
            <a:ext cx="203225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Show an alert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71975E-63A2-4EDD-BC85-E4FAD345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524" y="3611880"/>
            <a:ext cx="203225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Open a low-stock or cancellation alert and inspect its evidence.</a:t>
            </a:r>
            <a:endParaRPr sz="1400"/>
          </a:p>
        </p:txBody>
      </p:sp>
      <p:sp>
        <p:nvSpPr>
          <p:cNvPr id="16" name="Demo step 4">
            <a:extLst xmlns:a="http://schemas.openxmlformats.org/drawingml/2006/main">
              <a:ext uri="{FF2B5EF4-FFF2-40B4-BE49-F238E27FC236}">
                <a16:creationId xmlns:a16="http://schemas.microsoft.com/office/drawing/2014/main" id="{8D416263-A743-47D7-A7EE-77E77A8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4826" y="2286000"/>
            <a:ext cx="2489454" cy="246888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3FA6584-B6C3-46D1-A830-3133A0D1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146" y="2395728"/>
            <a:ext cx="914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 b="1">
                <a:solidFill>
                  <a:schemeClr val="accent4"/>
                </a:solidFill>
              </a:rPr>
              <a:t>4</a:t>
            </a:r>
            <a:endParaRPr sz="48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890E536-F9D7-4288-BF35-5AF3A93C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146" y="3154680"/>
            <a:ext cx="203225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Ask the analyst</a:t>
            </a:r>
            <a:endParaRPr sz="18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6AC5086-994B-4D42-B702-D267E128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9146" y="3611880"/>
            <a:ext cx="203225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Ask: “Is our top product at risk of running out of stock?”</a:t>
            </a:r>
            <a:endParaRPr sz="1400"/>
          </a:p>
        </p:txBody>
      </p:sp>
      <p:sp>
        <p:nvSpPr>
          <p:cNvPr id="20" name="Demo bar">
            <a:extLst xmlns:a="http://schemas.openxmlformats.org/drawingml/2006/main">
              <a:ext uri="{FF2B5EF4-FFF2-40B4-BE49-F238E27FC236}">
                <a16:creationId xmlns:a16="http://schemas.microsoft.com/office/drawing/2014/main" id="{30AD6DC0-31E6-4E5A-928C-3B9EAEB9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83480"/>
            <a:ext cx="10561320" cy="105156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1EC4D74-44B6-4E89-8A08-E035B3EA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83480"/>
            <a:ext cx="992124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800">
                <a:solidFill>
                  <a:schemeClr val="accent3"/>
                </a:solidFill>
              </a:rPr>
              <a:t>Then prepare a suggested reorder quantity for review. A manager decides whether to place an order.</a:t>
            </a:r>
            <a:endParaRPr sz="18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400">
                <a:solidFill>
                  <a:srgbClr val="A7BDB6"/>
                </a:solidFill>
              </a:rPr>
              <a:t>Stripe is in test mode; the sample dashboard uses imported CSV data.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027C401-47A3-4BDE-9627-1AB42C4F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7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750522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533112-CDDC-40E2-9C6E-FB9FFB3B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07  SECURITY AND TEAMWORK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8C5808F-CBD1-4853-99A8-A455655D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Separate workspaces, clear roles</a:t>
            </a:r>
            <a:endParaRPr sz="32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F413692-D7DB-4E01-BE4B-6C898D7B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6888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3B2739-3F5F-47C9-8243-28510DCA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6888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Workspace isolation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E83CF1-5143-40FD-9C0C-6DDEB7AD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1635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Each company's data lives in its own separate workspace.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40987E5-46F7-47FB-8175-3B9E355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2900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D038FC4-A2FC-47E3-8482-2375D629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42900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Manager and viewer roles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1ACC09-A911-4112-9A79-AB6F7121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7647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Two roles control what each person can do.</a:t>
            </a:r>
            <a:endParaRPr sz="14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8796791-AFDF-4156-A44D-16425C08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8912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02E5697-05FB-43C9-A529-4B4E8E46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8912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Team invitations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4F34A2-A3A6-4D3D-AA44-1EB76D57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73659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Invite teammates into the company workspace.</a:t>
            </a:r>
            <a:endParaRPr sz="14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A0B00B3-EC04-4A07-BD6F-983F1DAB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457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12700">
            <a:solidFill>
              <a:schemeClr val="accent4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93965B5-3005-4B22-99B1-7AEC9B8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49240"/>
            <a:ext cx="546811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chemeClr val="tx1"/>
                </a:solidFill>
              </a:rPr>
              <a:t>Activity &amp; audit log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DF160B-3045-44B1-AD82-B9F26F15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96712"/>
            <a:ext cx="546811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chemeClr val="accent6"/>
                </a:solidFill>
              </a:rPr>
              <a:t>Review sign-ins, team changes and ingestion runs in one timeline.</a:t>
            </a:r>
            <a:endParaRPr sz="1400"/>
          </a:p>
        </p:txBody>
      </p:sp>
      <p:sp>
        <p:nvSpPr>
          <p:cNvPr id="16" name="Isolation card">
            <a:extLst xmlns:a="http://schemas.openxmlformats.org/drawingml/2006/main">
              <a:ext uri="{FF2B5EF4-FFF2-40B4-BE49-F238E27FC236}">
                <a16:creationId xmlns:a16="http://schemas.microsoft.com/office/drawing/2014/main" id="{968E021E-8F75-466F-91BB-2A49DC82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377440"/>
            <a:ext cx="4562856" cy="3611880"/>
          </a:xfrm>
          <a:prstGeom xmlns:a="http://schemas.openxmlformats.org/drawingml/2006/main" prst="roundRect">
            <a:avLst>
              <a:gd name="adj" fmla="val 3038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A9D622B-AA60-4F09-8489-603E6A36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51760"/>
            <a:ext cx="1920240" cy="25146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1157733-CEB5-4BB7-BE8D-76AE42F5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78892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bg1"/>
                </a:solidFill>
              </a:rPr>
              <a:t>Company A</a:t>
            </a:r>
            <a:endParaRPr sz="16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4E0370B-1ED9-44F5-BCEA-AB29DDE0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10896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Own workspace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186326E-3A2E-46D9-AE51-3AA88FEC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520440"/>
            <a:ext cx="15544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FFF9A6B-0F1E-4EB2-9A3A-5915F7D2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52044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bg1"/>
                </a:solidFill>
              </a:rPr>
              <a:t>Manager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023BA7A-778B-4798-A4DC-EF944A86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23360"/>
            <a:ext cx="15544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56F4A15-4079-4A12-B4E9-CC389C2C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2336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bg1"/>
                </a:solidFill>
              </a:rPr>
              <a:t>Viewer</a:t>
            </a:r>
            <a:endParaRPr sz="13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93CAC75-DC43-404E-8BFA-8B5061BA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61772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accent3"/>
                </a:solidFill>
              </a:rPr>
              <a:t>Own data</a:t>
            </a:r>
            <a:endParaRPr sz="13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B2AFCE7-7CEC-49E8-8D90-F6967676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51760"/>
            <a:ext cx="1920240" cy="25146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34A78F8-D6C3-4F8A-BDD6-7E8A1292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788920"/>
            <a:ext cx="15544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bg1"/>
                </a:solidFill>
              </a:rPr>
              <a:t>Company B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79438DA-5E0C-4D92-8ABB-64BCBE22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108960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Own workspace</a:t>
            </a:r>
            <a:endParaRPr sz="12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D10E2A1-5439-4DFE-92D4-24247814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520440"/>
            <a:ext cx="15544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 w="12700">
            <a:solidFill>
              <a:schemeClr val="accent1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8D3CC43-24FD-4857-8963-F3A8FBAF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352044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bg1"/>
                </a:solidFill>
              </a:rPr>
              <a:t>Manager</a:t>
            </a:r>
            <a:endParaRPr sz="13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611076-4FCB-44AE-BC44-B147B67A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023360"/>
            <a:ext cx="15544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chemeClr val="accent6"/>
          </a:solidFill>
          <a:ln xmlns:a="http://schemas.openxmlformats.org/drawingml/2006/main" w="12700">
            <a:solidFill>
              <a:schemeClr val="accent6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8E92512-35DB-4E77-AA9B-80FBF36C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02336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bg1"/>
                </a:solidFill>
              </a:rPr>
              <a:t>Viewer</a:t>
            </a:r>
            <a:endParaRPr sz="13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65884D2-F88C-4B5C-A5B7-95295CE5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4617720"/>
            <a:ext cx="1554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chemeClr val="accent3"/>
                </a:solidFill>
              </a:rPr>
              <a:t>Own data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9EBA1E3-A04F-451C-8D28-C6614263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94960"/>
            <a:ext cx="40142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A7BDB6"/>
                </a:solidFill>
              </a:rPr>
              <a:t>Illustration of workspace isolation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D2E0741-A763-4839-98A6-1B5A6BF0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8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174443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1787466-B91D-4484-BE08-C3DBDB4C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1"/>
                </a:solidFill>
              </a:rPr>
              <a:t>08  DATA VALIDATION &amp; IMPACT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28BE5E-B9F5-4DB4-9E3C-D1A42F7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chemeClr val="tx1"/>
                </a:solidFill>
              </a:rPr>
              <a:t>A measurable path to SME impact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0B471A-15C3-432C-9D0A-C8CE9A31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1"/>
                </a:solidFill>
              </a:rPr>
              <a:t>PUBLIC DATASET VALIDATION • UCI ONLINE RETAIL</a:t>
            </a:r>
            <a:endParaRPr sz="1200"/>
          </a:p>
        </p:txBody>
      </p:sp>
      <p:sp>
        <p:nvSpPr>
          <p:cNvPr id="5" name="Benefit 1">
            <a:extLst xmlns:a="http://schemas.openxmlformats.org/drawingml/2006/main">
              <a:ext uri="{FF2B5EF4-FFF2-40B4-BE49-F238E27FC236}">
                <a16:creationId xmlns:a16="http://schemas.microsoft.com/office/drawing/2014/main" id="{81DE9277-FB5A-40F2-BB5F-2B56BC36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F3B4C7B-142E-402F-995B-74772B2A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500 invoices</a:t>
            </a:r>
            <a:endParaRPr sz="1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1C89D86-252C-4517-A426-7EF2EFAD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Historical UK online retail invoices sampled across 2010–2011.</a:t>
            </a:r>
            <a:endParaRPr sz="1500"/>
          </a:p>
        </p:txBody>
      </p:sp>
      <p:sp>
        <p:nvSpPr>
          <p:cNvPr id="8" name="Benefit 2">
            <a:extLst xmlns:a="http://schemas.openxmlformats.org/drawingml/2006/main">
              <a:ext uri="{FF2B5EF4-FFF2-40B4-BE49-F238E27FC236}">
                <a16:creationId xmlns:a16="http://schemas.microsoft.com/office/drawing/2014/main" id="{7B573A07-2E55-45B9-B709-78A5D579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1F716D-F014-44B0-A397-CB305EAB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15,119 sale lines</a:t>
            </a:r>
            <a:endParaRPr sz="1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2B14BC-BA38-4E11-A767-2C08D05D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Line-level records test ingestion and sales trend analysis.</a:t>
            </a:r>
            <a:endParaRPr sz="1500"/>
          </a:p>
        </p:txBody>
      </p:sp>
      <p:sp>
        <p:nvSpPr>
          <p:cNvPr id="11" name="Benefit 3">
            <a:extLst xmlns:a="http://schemas.openxmlformats.org/drawingml/2006/main">
              <a:ext uri="{FF2B5EF4-FFF2-40B4-BE49-F238E27FC236}">
                <a16:creationId xmlns:a16="http://schemas.microsoft.com/office/drawing/2014/main" id="{CC1ADDE3-94A6-497D-9181-E30967CB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231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rgbClr val="E3E8E5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8AFF867-35ED-4C9D-B915-8DB4903A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517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1"/>
                </a:solidFill>
              </a:rPr>
              <a:t>393 customers</a:t>
            </a:r>
            <a:endParaRPr sz="1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A56ECD1-A0EF-462B-83F7-544411BC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0815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E6F69"/>
                </a:solidFill>
              </a:rPr>
              <a:t>Plus 2,703 product codes. UCI DOI: 10.24432/C5BW33. CC BY 4.0.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2067DA5-09C7-4255-8C18-68E30F83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chemeClr val="accent1"/>
                </a:solidFill>
              </a:rPr>
              <a:t>PILOT SCORECARD • PROPOSED MEASURES, NOT RESULTS</a:t>
            </a:r>
            <a:endParaRPr sz="1200"/>
          </a:p>
        </p:txBody>
      </p:sp>
      <p:sp>
        <p:nvSpPr>
          <p:cNvPr id="15" name="Next step 1">
            <a:extLst xmlns:a="http://schemas.openxmlformats.org/drawingml/2006/main">
              <a:ext uri="{FF2B5EF4-FFF2-40B4-BE49-F238E27FC236}">
                <a16:creationId xmlns:a16="http://schemas.microsoft.com/office/drawing/2014/main" id="{188138D5-3DFF-4398-84FE-9C3A46CC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DD56349-4801-4ACB-B86F-76294666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Time saved</a:t>
            </a:r>
            <a:endParaRPr sz="19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CE170C3-06AC-49DB-93F4-8F2EDF53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Compare weekly report preparation time before and during a pilot.</a:t>
            </a:r>
            <a:endParaRPr sz="1500"/>
          </a:p>
        </p:txBody>
      </p:sp>
      <p:sp>
        <p:nvSpPr>
          <p:cNvPr id="18" name="Next step 2">
            <a:extLst xmlns:a="http://schemas.openxmlformats.org/drawingml/2006/main">
              <a:ext uri="{FF2B5EF4-FFF2-40B4-BE49-F238E27FC236}">
                <a16:creationId xmlns:a16="http://schemas.microsoft.com/office/drawing/2014/main" id="{3DB2BE8A-D3A4-49D3-9445-91BCDBE3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25D879A-7E78-4474-942E-433ECCED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Revenue recovered</a:t>
            </a:r>
            <a:endParaRPr sz="1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E1502D6-DA1F-4DFC-A39B-9C8E969E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Track recovered cancelled orders and repeat purchases against baseline.</a:t>
            </a:r>
            <a:endParaRPr sz="1500"/>
          </a:p>
        </p:txBody>
      </p:sp>
      <p:sp>
        <p:nvSpPr>
          <p:cNvPr id="21" name="Next step 3">
            <a:extLst xmlns:a="http://schemas.openxmlformats.org/drawingml/2006/main">
              <a:ext uri="{FF2B5EF4-FFF2-40B4-BE49-F238E27FC236}">
                <a16:creationId xmlns:a16="http://schemas.microsoft.com/office/drawing/2014/main" id="{360DD1C0-46FE-4E25-A54C-BDAE514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80560"/>
            <a:ext cx="338328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B9BE5A-8A2C-4CDA-A87B-65DFA303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7091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chemeClr val="accent3"/>
                </a:solidFill>
              </a:rPr>
              <a:t>Stockouts avoided</a:t>
            </a:r>
            <a:endParaRPr sz="1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351A86F-688F-4769-AF9F-6F7CDC9D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138928"/>
            <a:ext cx="28346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Compare stockout frequency and days of cover over time.</a:t>
            </a:r>
            <a:endParaRPr sz="15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20AC977-F820-40A9-806D-D2D37CF4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E6F69"/>
                </a:solidFill>
              </a:rPr>
              <a:t>9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344711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4C206C-8E46-4908-A7E9-96BB4A27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749808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200">
                <a:solidFill>
                  <a:schemeClr val="accent3"/>
                </a:solidFill>
              </a:rPr>
              <a:t>09  CLOSING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9CAF34-717C-4E7F-B294-DFB5EC58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097280"/>
            <a:ext cx="10561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bg1"/>
                </a:solidFill>
              </a:rPr>
              <a:t>See the signal. Choose the next move.</a:t>
            </a:r>
            <a:endParaRPr sz="4000"/>
          </a:p>
        </p:txBody>
      </p:sp>
      <p:sp>
        <p:nvSpPr>
          <p:cNvPr id="4" name="Ask card 1">
            <a:extLst xmlns:a="http://schemas.openxmlformats.org/drawingml/2006/main">
              <a:ext uri="{FF2B5EF4-FFF2-40B4-BE49-F238E27FC236}">
                <a16:creationId xmlns:a16="http://schemas.microsoft.com/office/drawing/2014/main" id="{E1BEB69B-54B1-43E4-B193-8DE2EEEC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CE4ED4-2046-4553-A149-2DB7CAF2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Explore the dashboard</a:t>
            </a:r>
            <a:endParaRPr sz="2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97AE29-B93B-4663-8937-9942F7F5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Review performance, customer segments and inventory risk from your company data.</a:t>
            </a:r>
            <a:endParaRPr sz="1500"/>
          </a:p>
        </p:txBody>
      </p:sp>
      <p:sp>
        <p:nvSpPr>
          <p:cNvPr id="7" name="Ask card 2">
            <a:extLst xmlns:a="http://schemas.openxmlformats.org/drawingml/2006/main">
              <a:ext uri="{FF2B5EF4-FFF2-40B4-BE49-F238E27FC236}">
                <a16:creationId xmlns:a16="http://schemas.microsoft.com/office/drawing/2014/main" id="{007BB93B-5E87-4042-B552-0DEBD309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198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1A1593-56F3-49E2-AB2E-702681A5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Ask the analyst</a:t>
            </a:r>
            <a:endParaRPr sz="2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8727529-BD00-4B34-9DDE-8608B82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Get streamed, evidence-based answers with clear limits.</a:t>
            </a:r>
            <a:endParaRPr sz="1500"/>
          </a:p>
        </p:txBody>
      </p:sp>
      <p:sp>
        <p:nvSpPr>
          <p:cNvPr id="10" name="Ask card 3">
            <a:extLst xmlns:a="http://schemas.openxmlformats.org/drawingml/2006/main">
              <a:ext uri="{FF2B5EF4-FFF2-40B4-BE49-F238E27FC236}">
                <a16:creationId xmlns:a16="http://schemas.microsoft.com/office/drawing/2014/main" id="{ED44FCF7-46CB-4274-A0F2-CFA7032E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0280"/>
            <a:ext cx="3383280" cy="169164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chemeClr val="tx2"/>
          </a:solidFill>
          <a:ln xmlns:a="http://schemas.openxmlformats.org/drawingml/2006/main" w="9525">
            <a:solidFill>
              <a:srgbClr val="254E48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522A1E-4468-4B63-803B-3C3ACE83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5146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chemeClr val="accent3"/>
                </a:solidFill>
              </a:rPr>
              <a:t>Take a closer look</a:t>
            </a:r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A2B956-7BBB-4342-8E00-3419AD7C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990088"/>
            <a:ext cx="2834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Open the live demo and explore the project.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67707B8-8C04-46BD-A856-64E0B52C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51960"/>
            <a:ext cx="10561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chemeClr val="accent2"/>
                </a:solidFill>
              </a:rPr>
              <a:t>Clearview BI. See your business clearly.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4620C8-6D13-4348-9E61-9E12EAE6B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892040"/>
            <a:ext cx="10561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chemeClr val="bg1"/>
                </a:solidFill>
              </a:rPr>
              <a:t>Basmala Azab  |  Sara Basem  |  Shahd Elgouhary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68DB7F7-3418-4F1E-98BF-E89B489C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105613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A7BDB6"/>
                </a:solidFill>
              </a:rPr>
              <a:t>Demo materials: https://drive.google.com/drive/folders/1Tt_gjh2BhU9H3v-cLi4IyI7QRTdyaRDh?usp=sharing</a:t>
            </a:r>
            <a:endParaRPr sz="100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00">
                <a:solidFill>
                  <a:srgbClr val="A7BDB6"/>
                </a:solidFill>
              </a:rPr>
              <a:t>Source code: https://github.com/basmalaazab/Clearview-BI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42A882A-AE52-4F06-B02B-D4F208F7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623620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A7BDB6"/>
                </a:solidFill>
              </a:rPr>
              <a:t>10 / 10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64021911"/>
      </p:ext>
    </p:extLst>
  </p:cSld>
</p:sld>
</file>

<file path=ppt/theme/theme1.xml><?xml version="1.0" encoding="utf-8"?>
<a:theme xmlns:a="http://schemas.openxmlformats.org/drawingml/2006/main" name="Clearview BI Emerald">
  <a:themeElements>
    <a:clrScheme name="Clearview BI Emerald">
      <a:dk1>
        <a:srgbClr val="0B2B26"/>
      </a:dk1>
      <a:lt1>
        <a:srgbClr val="FFFFFF"/>
      </a:lt1>
      <a:dk2>
        <a:srgbClr val="13403B"/>
      </a:dk2>
      <a:lt2>
        <a:srgbClr val="F6F8F5"/>
      </a:lt2>
      <a:accent1>
        <a:srgbClr val="0F7A58"/>
      </a:accent1>
      <a:accent2>
        <a:srgbClr val="E8B04B"/>
      </a:accent2>
      <a:accent3>
        <a:srgbClr val="34D399"/>
      </a:accent3>
      <a:accent4>
        <a:srgbClr val="10B981"/>
      </a:accent4>
      <a:accent5>
        <a:srgbClr val="F87171"/>
      </a:accent5>
      <a:accent6>
        <a:srgbClr val="5E6F69"/>
      </a:accent6>
      <a:hlink>
        <a:srgbClr val="34D399"/>
      </a:hlink>
      <a:folHlink>
        <a:srgbClr val="5E6F69"/>
      </a:folHlink>
    </a:clrScheme>
    <a:fontScheme name="Clearview BI Emerald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learview BI Emeral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2026-10-09T11:15:11.6180000Z</dcterms:created>
  <dcterms:modified xsi:type="dcterms:W3CDTF">2026-10-09T11:15:11.6180000Z</dcterms:modified>
</coreProperties>
</file>