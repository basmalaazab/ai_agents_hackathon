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2d28805dd64b66" /><Relationship Type="http://schemas.openxmlformats.org/officeDocument/2006/relationships/extended-properties" Target="/docProps/app.xml" Id="Rd344ef59f8064b7f" /><Relationship Type="http://schemas.openxmlformats.org/officeDocument/2006/relationships/officeDocument" Target="/ppt/presentation.xml" Id="R60baeaf9e91242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0c95610f614a1c"/>
  </p:sldMasterIdLst>
  <p:notesMasterIdLst>
    <p:notesMasterId xmlns:r="http://schemas.openxmlformats.org/officeDocument/2006/relationships" r:id="Rcc6abd39ca8b4111"/>
  </p:notesMasterIdLst>
  <p:sldIdLst>
    <p:sldId xmlns:r="http://schemas.openxmlformats.org/officeDocument/2006/relationships" id="256" r:id="R54d02cffe3524dda"/>
    <p:sldId xmlns:r="http://schemas.openxmlformats.org/officeDocument/2006/relationships" id="257" r:id="Rbd11a26d839d4d8f"/>
    <p:sldId xmlns:r="http://schemas.openxmlformats.org/officeDocument/2006/relationships" id="258" r:id="Rcb539515ecad48f8"/>
    <p:sldId xmlns:r="http://schemas.openxmlformats.org/officeDocument/2006/relationships" id="259" r:id="R4ee9c7d3ae3044c2"/>
    <p:sldId xmlns:r="http://schemas.openxmlformats.org/officeDocument/2006/relationships" id="260" r:id="R5b594fe2cb5f4a83"/>
    <p:sldId xmlns:r="http://schemas.openxmlformats.org/officeDocument/2006/relationships" id="261" r:id="R9f6022d3d1c944d5"/>
    <p:sldId xmlns:r="http://schemas.openxmlformats.org/officeDocument/2006/relationships" id="262" r:id="Rc2b5bb7f00894b62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b9797835c04571" /><Relationship Type="http://schemas.openxmlformats.org/officeDocument/2006/relationships/slideMaster" Target="/ppt/slideMasters/slideMaster1.xml" Id="R9c0c95610f614a1c" /><Relationship Type="http://schemas.openxmlformats.org/officeDocument/2006/relationships/notesMaster" Target="/ppt/notesMasters/notesMaster1.xml" Id="Rcc6abd39ca8b4111" /><Relationship Type="http://schemas.openxmlformats.org/officeDocument/2006/relationships/presProps" Target="/ppt/presProps.xml" Id="R94e2bce430cf4e47" /><Relationship Type="http://schemas.openxmlformats.org/officeDocument/2006/relationships/viewProps" Target="/ppt/viewProps.xml" Id="R4b6d1e49d8ab4565" /><Relationship Type="http://schemas.openxmlformats.org/officeDocument/2006/relationships/tableStyles" Target="/ppt/tableStyles.xml" Id="Rda9bd3c5e1944ac2" /><Relationship Type="http://schemas.openxmlformats.org/officeDocument/2006/relationships/slide" Target="/ppt/slides/slide1.xml" Id="R54d02cffe3524dda" /><Relationship Type="http://schemas.openxmlformats.org/officeDocument/2006/relationships/slide" Target="/ppt/slides/slide2.xml" Id="Rbd11a26d839d4d8f" /><Relationship Type="http://schemas.openxmlformats.org/officeDocument/2006/relationships/slide" Target="/ppt/slides/slide3.xml" Id="Rcb539515ecad48f8" /><Relationship Type="http://schemas.openxmlformats.org/officeDocument/2006/relationships/slide" Target="/ppt/slides/slide4.xml" Id="R4ee9c7d3ae3044c2" /><Relationship Type="http://schemas.openxmlformats.org/officeDocument/2006/relationships/slide" Target="/ppt/slides/slide5.xml" Id="R5b594fe2cb5f4a83" /><Relationship Type="http://schemas.openxmlformats.org/officeDocument/2006/relationships/slide" Target="/ppt/slides/slide6.xml" Id="R9f6022d3d1c944d5" /><Relationship Type="http://schemas.openxmlformats.org/officeDocument/2006/relationships/slide" Target="/ppt/slides/slide7.xml" Id="Rc2b5bb7f00894b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999cafeb1f40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learview BI Emerald">
  <a:themeElements>
    <a:clrScheme name="Clearview BI Emerald">
      <a:dk1>
        <a:srgbClr val="0B2B26"/>
      </a:dk1>
      <a:lt1>
        <a:srgbClr val="FFFFFF"/>
      </a:lt1>
      <a:dk2>
        <a:srgbClr val="13403B"/>
      </a:dk2>
      <a:lt2>
        <a:srgbClr val="F6F8F5"/>
      </a:lt2>
      <a:accent1>
        <a:srgbClr val="0F7A58"/>
      </a:accent1>
      <a:accent2>
        <a:srgbClr val="E8B04B"/>
      </a:accent2>
      <a:accent3>
        <a:srgbClr val="34D399"/>
      </a:accent3>
      <a:accent4>
        <a:srgbClr val="10B981"/>
      </a:accent4>
      <a:accent5>
        <a:srgbClr val="F87171"/>
      </a:accent5>
      <a:accent6>
        <a:srgbClr val="5E6F69"/>
      </a:accent6>
      <a:hlink>
        <a:srgbClr val="34D399"/>
      </a:hlink>
      <a:folHlink>
        <a:srgbClr val="5E6F69"/>
      </a:folHlink>
    </a:clrScheme>
    <a:fontScheme name="Clearview BI Emerald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learview BI Emeral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ebe4553dc44b70" /><Relationship Type="http://schemas.openxmlformats.org/officeDocument/2006/relationships/notesMaster" Target="/ppt/notesMasters/notesMaster1.xml" Id="R0cd4db91a3654f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8abff0e00c4693" /><Relationship Type="http://schemas.openxmlformats.org/officeDocument/2006/relationships/notesMaster" Target="/ppt/notesMasters/notesMaster1.xml" Id="R8dc9272f8f6b46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b7719f45034224" /><Relationship Type="http://schemas.openxmlformats.org/officeDocument/2006/relationships/notesMaster" Target="/ppt/notesMasters/notesMaster1.xml" Id="R76e3a6fa707b45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709a12e2f6475a" /><Relationship Type="http://schemas.openxmlformats.org/officeDocument/2006/relationships/notesMaster" Target="/ppt/notesMasters/notesMaster1.xml" Id="R959c70d4bb6544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a0f2d9982e4fab" /><Relationship Type="http://schemas.openxmlformats.org/officeDocument/2006/relationships/notesMaster" Target="/ppt/notesMasters/notesMaster1.xml" Id="R75f8e055fb9241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daa42fc17e4e61" /><Relationship Type="http://schemas.openxmlformats.org/officeDocument/2006/relationships/notesMaster" Target="/ppt/notesMasters/notesMaster1.xml" Id="R52ab984c48de45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a98584247e4464" /><Relationship Type="http://schemas.openxmlformats.org/officeDocument/2006/relationships/notesMaster" Target="/ppt/notesMasters/notesMaster1.xml" Id="Reb7983dca5034b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8020daeb045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d769613e540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8aca32e374b2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2C370A-FE69-44EE-ADCE-E50C5B99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23620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7BDB6"/>
                </a:solidFill>
              </a:rPr>
              <a:t>Clearview BI</a:t>
            </a:r>
            <a:endParaRPr sz="12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LIGH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08DBEA7-1186-408B-8360-9A6D6B6A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23620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E6F69"/>
                </a:solidFill>
              </a:rPr>
              <a:t>Clearview BI</a:t>
            </a:r>
            <a:endParaRPr sz="1200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a57931e2e0476c" /><Relationship Type="http://schemas.openxmlformats.org/officeDocument/2006/relationships/slideLayout" Target="/ppt/slideLayouts/slideLayout1.xml" Id="Ra46306b9a1454839" /><Relationship Type="http://schemas.openxmlformats.org/officeDocument/2006/relationships/slideLayout" Target="/ppt/slideLayouts/slideLayout2.xml" Id="R2f962164f8794d03" /><Relationship Type="http://schemas.openxmlformats.org/officeDocument/2006/relationships/slideLayout" Target="/ppt/slideLayouts/slideLayout3.xml" Id="R1e1abe0c31784cc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6306b9a1454839"/>
    <p:sldLayoutId xmlns:r="http://schemas.openxmlformats.org/officeDocument/2006/relationships" id="2147483650" r:id="R2f962164f8794d03"/>
    <p:sldLayoutId xmlns:r="http://schemas.openxmlformats.org/officeDocument/2006/relationships" id="2147483651" r:id="R1e1abe0c31784cc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learview BI Emerald">
  <a:themeElements>
    <a:clrScheme name="Clearview BI Emerald">
      <a:dk1>
        <a:srgbClr val="0B2B26"/>
      </a:dk1>
      <a:lt1>
        <a:srgbClr val="FFFFFF"/>
      </a:lt1>
      <a:dk2>
        <a:srgbClr val="13403B"/>
      </a:dk2>
      <a:lt2>
        <a:srgbClr val="F6F8F5"/>
      </a:lt2>
      <a:accent1>
        <a:srgbClr val="0F7A58"/>
      </a:accent1>
      <a:accent2>
        <a:srgbClr val="E8B04B"/>
      </a:accent2>
      <a:accent3>
        <a:srgbClr val="34D399"/>
      </a:accent3>
      <a:accent4>
        <a:srgbClr val="10B981"/>
      </a:accent4>
      <a:accent5>
        <a:srgbClr val="F87171"/>
      </a:accent5>
      <a:accent6>
        <a:srgbClr val="5E6F69"/>
      </a:accent6>
      <a:hlink>
        <a:srgbClr val="34D399"/>
      </a:hlink>
      <a:folHlink>
        <a:srgbClr val="5E6F69"/>
      </a:folHlink>
    </a:clrScheme>
    <a:fontScheme name="Clearview BI Emerald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learview BI Emeral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a7ddd2852a4751" /><Relationship Type="http://schemas.openxmlformats.org/officeDocument/2006/relationships/notesSlide" Target="/ppt/notesSlides/notesSlide1.xml" Id="R220d60cf71e04d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3f546b593814ee5" /><Relationship Type="http://schemas.openxmlformats.org/officeDocument/2006/relationships/notesSlide" Target="/ppt/notesSlides/notesSlide2.xml" Id="Reaade889bf4544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e9020ac7244a77" /><Relationship Type="http://schemas.openxmlformats.org/officeDocument/2006/relationships/notesSlide" Target="/ppt/notesSlides/notesSlide3.xml" Id="Rb191a13fe2634e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57b2513d6447c7" /><Relationship Type="http://schemas.openxmlformats.org/officeDocument/2006/relationships/chart" Target="/ppt/slides/charts/chart1.xml" Id="R9e9740a82ee940e2" /><Relationship Type="http://schemas.openxmlformats.org/officeDocument/2006/relationships/notesSlide" Target="/ppt/notesSlides/notesSlide4.xml" Id="Rfb2eeb378afe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106b25e6804257" /><Relationship Type="http://schemas.openxmlformats.org/officeDocument/2006/relationships/notesSlide" Target="/ppt/notesSlides/notesSlide5.xml" Id="R09ecb1c6efdf4b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c3d5e6cfe54cd5" /><Relationship Type="http://schemas.openxmlformats.org/officeDocument/2006/relationships/notesSlide" Target="/ppt/notesSlides/notesSlide6.xml" Id="R3268fe8a191e41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aa9a9dbdf44158" /><Relationship Type="http://schemas.openxmlformats.org/officeDocument/2006/relationships/notesSlide" Target="/ppt/notesSlides/notesSlide7.xml" Id="Re47a81d7caa84c0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>
                <a:solidFill>
                  <a:srgbClr val="5E6F69"/>
                </a:solidFill>
              </a:rPr>
              <a:t>Revenue by 6-day period (USD) • last 30 days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E6F69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Revenue (USD)</c:v>
          </c:tx>
          <c:spPr>
            <a:solidFill xmlns:a="http://schemas.openxmlformats.org/drawingml/2006/main">
              <a:srgbClr val="0F7A58"/>
            </a:solidFill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Sep 9–14</c:v>
                </c:pt>
                <c:pt idx="1">
                  <c:v>Sep 15–20</c:v>
                </c:pt>
                <c:pt idx="2">
                  <c:v>Sep 21–26</c:v>
                </c:pt>
                <c:pt idx="3">
                  <c:v>Sep 27–Oct 2</c:v>
                </c:pt>
                <c:pt idx="4">
                  <c:v>Oct 3–8</c:v>
                </c:pt>
              </c:strCache>
            </c:strRef>
          </c:cat>
          <c:val>
            <c:numRef>
              <c:f>'Chart Data'!$B$2:$B$6</c:f>
              <c:numCache>
                <c:formatCode>$#,##0</c:formatCode>
                <c:ptCount val="5"/>
                <c:pt idx="0">
                  <c:v>3752.89</c:v>
                </c:pt>
                <c:pt idx="1">
                  <c:v>6111.89</c:v>
                </c:pt>
                <c:pt idx="2">
                  <c:v>6741.83</c:v>
                </c:pt>
                <c:pt idx="3">
                  <c:v>4478.86</c:v>
                </c:pt>
                <c:pt idx="4">
                  <c:v>2039.95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F6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5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F69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B0E592-ECF9-46D7-8036-77CB34FD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517904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334"/>
          </a:solidFill>
          <a:ln xmlns:a="http://schemas.openxmlformats.org/drawingml/2006/main" w="12700">
            <a:solidFill>
              <a:srgbClr val="0A4334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525560E-7177-498F-89EC-4E96AB9F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3566160"/>
            <a:ext cx="1901952" cy="19019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24000"/>
            </a:schemeClr>
          </a:solidFill>
          <a:ln xmlns:a="http://schemas.openxmlformats.org/drawingml/2006/main"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1337FC2-9AD2-4E69-9F93-9EA3C83E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300">
                <a:solidFill>
                  <a:schemeClr val="accent3"/>
                </a:solidFill>
              </a:rPr>
              <a:t>AGENTS AT WORK HACKATHON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6B66EFE-31C4-4A09-8C03-6C91874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11680"/>
            <a:ext cx="74980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0" b="1">
                <a:solidFill>
                  <a:schemeClr val="bg1"/>
                </a:solidFill>
              </a:rPr>
              <a:t>Clearview BI</a:t>
            </a:r>
            <a:endParaRPr sz="8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287055-AF6B-43B8-943C-2CDC214A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6949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3200">
                <a:solidFill>
                  <a:schemeClr val="accent3"/>
                </a:solidFill>
              </a:rPr>
              <a:t>One clear view.</a:t>
            </a:r>
            <a:endParaRPr sz="3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3200">
                <a:solidFill>
                  <a:schemeClr val="accent3"/>
                </a:solidFill>
              </a:rPr>
              <a:t>Better next moves.</a:t>
            </a:r>
            <a:endParaRPr sz="3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815E53-C98A-4D4C-924F-00EF24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4632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A7BDB6"/>
                </a:solidFill>
              </a:rPr>
              <a:t>Business intelligence and an AI analyst for startups and small businesses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8366916-8010-4B7A-882A-D0D8F26C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Basmala Azab  |  Sara Basem  |  Shahd Elgouhary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6823710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E451C7-6188-44E3-B6E2-27F464E5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01  THE SME WORKFLOW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B8209C-781D-4EFF-8FAD-C997194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Small teams still build their business picture by hand</a:t>
            </a:r>
            <a:endParaRPr sz="3200"/>
          </a:p>
        </p:txBody>
      </p:sp>
      <p:sp>
        <p:nvSpPr>
          <p:cNvPr id="4" name="Problem card 1">
            <a:extLst xmlns:a="http://schemas.openxmlformats.org/drawingml/2006/main">
              <a:ext uri="{FF2B5EF4-FFF2-40B4-BE49-F238E27FC236}">
                <a16:creationId xmlns:a16="http://schemas.microsoft.com/office/drawing/2014/main" id="{7A857F19-C1E0-47D2-8E82-7739F057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3383280" cy="214884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FBF3D2-7F39-455A-A592-D27A2DA3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346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1"/>
                </a:solidFill>
              </a:rPr>
              <a:t>Built for lean teams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849763-48CE-4F09-9F70-2073BADC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83280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Small retailers selling across a web store, marketplace, and payment platform.</a:t>
            </a:r>
            <a:endParaRPr sz="1500"/>
          </a:p>
        </p:txBody>
      </p:sp>
      <p:sp>
        <p:nvSpPr>
          <p:cNvPr id="7" name="Problem card 2">
            <a:extLst xmlns:a="http://schemas.openxmlformats.org/drawingml/2006/main">
              <a:ext uri="{FF2B5EF4-FFF2-40B4-BE49-F238E27FC236}">
                <a16:creationId xmlns:a16="http://schemas.microsoft.com/office/drawing/2014/main" id="{936C575F-8C50-4645-8994-0141CF21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514600"/>
            <a:ext cx="3383280" cy="214884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CF3863A-4510-4E6C-B05E-93A01E52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46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1"/>
                </a:solidFill>
              </a:rPr>
              <a:t>Today: manual reporting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CE05D37-C3F2-4C38-8ABF-196D67E3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83280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Export data, reconcile spreadsheets, calculate KPIs, then check stock by hand.</a:t>
            </a:r>
            <a:endParaRPr sz="1500"/>
          </a:p>
        </p:txBody>
      </p:sp>
      <p:sp>
        <p:nvSpPr>
          <p:cNvPr id="10" name="Problem card 3">
            <a:extLst xmlns:a="http://schemas.openxmlformats.org/drawingml/2006/main">
              <a:ext uri="{FF2B5EF4-FFF2-40B4-BE49-F238E27FC236}">
                <a16:creationId xmlns:a16="http://schemas.microsoft.com/office/drawing/2014/main" id="{8B142DFE-AB45-42E0-B5A0-6D07E7E0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3383280" cy="214884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697AF4-5DB0-46AC-9890-73AE99E0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1"/>
                </a:solidFill>
              </a:rPr>
              <a:t>The cost: slower action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AB2D5C0-5D82-43EC-AE1B-55D9EAB2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383280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Hours spent compiling data delay answers about cancellations, churn, and stock risk.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5B5584-4438-4A00-9D85-13952F6D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561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tx1"/>
                </a:solidFill>
              </a:rPr>
              <a:t>Clearview replaces spreadsheet consolidation with one review-ready business picture.</a:t>
            </a:r>
            <a:endParaRPr sz="1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7EFB976-D14B-47A6-837A-AB45DBEA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2 / 7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9546307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8FC6881-53F1-499B-AB5B-D54A8165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02  THE SOLUTION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E51679-02D1-4A56-8E1A-026E6A53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From scattered data to confident decisions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D53ADC3-83B9-404E-B30B-7D8C865A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9751682-5B80-4E1F-BF8C-5955FF87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28600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Company workspaces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1755C9-7FA8-47FB-AD45-9962FE3B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3347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Each business gets its own workspace for data and its team.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143D48D-753F-42CE-96A8-F08B02A8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A879B3-9DB7-40FF-A79B-5AF4011E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24612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CSV + Stripe Test Mode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FEBC4BE-24E0-4D24-89E0-E76C30D2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59359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Import business files or sync Stripe test data. Supported currencies convert to USD at available daily rates.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19454D4-C95F-4690-B985-F7BD523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9FDACAA-2FA0-4870-A339-43685948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0624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Analytics &amp; alerts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546E060-0AA1-42B4-AB15-FC537D3D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55371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KPIs, trends, low-stock alerts and RFM customer segments.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17DA5D4-0268-4AF5-AB5E-72DB7917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BF8C62A-D24B-456E-AC47-DEF5AEDD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16636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AI Business Analyst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B530B1-FBD1-46A3-B5A7-19ABE9BC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1383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Optional AI: OpenAI first, Gemini fallback; built-in analysis stays available.</a:t>
            </a:r>
            <a:endParaRPr sz="1400"/>
          </a:p>
        </p:txBody>
      </p:sp>
      <p:sp>
        <p:nvSpPr>
          <p:cNvPr id="16" name="Example card">
            <a:extLst xmlns:a="http://schemas.openxmlformats.org/drawingml/2006/main">
              <a:ext uri="{FF2B5EF4-FFF2-40B4-BE49-F238E27FC236}">
                <a16:creationId xmlns:a16="http://schemas.microsoft.com/office/drawing/2014/main" id="{6E97770D-A4FD-49D3-8ECD-04EE812A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377440"/>
            <a:ext cx="4562856" cy="3611880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D4AB568-142B-40EC-855C-13C79BB0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0604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3"/>
                </a:solidFill>
              </a:rPr>
              <a:t>ILLUSTRATIVE EXAMPLE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55BF696-385D-4370-8A07-BAF672A5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926080"/>
            <a:ext cx="3931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bg1"/>
                </a:solidFill>
              </a:rPr>
              <a:t>Is our top product at stockout risk?</a:t>
            </a:r>
            <a:endParaRPr sz="17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A92616F-14D0-48A4-8801-A557CFDC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703320"/>
            <a:ext cx="3931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4E4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FADCB62-B121-4DB8-A13C-DB1BCC9F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84048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3"/>
                </a:solidFill>
              </a:rPr>
              <a:t>EVIDENCE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81826C-41E4-4134-BDF0-09AC4A82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114800"/>
            <a:ext cx="3931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4 units left • about 5.2 days of cover • 23 sold in 30 days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5F15930-8E0C-4367-B88A-7AB8C8A4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84632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2"/>
                </a:solidFill>
              </a:rPr>
              <a:t>SUGGESTION TO VALIDATE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5FA0385-81CD-49FE-946F-8AD385CD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120640"/>
            <a:ext cx="3931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Prepare a suggested reorder quantity for manager review. No order is placed.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08D2FF4-D6D0-4EAA-BC3F-45150673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3 / 7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964347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5F8784-74DE-4D9F-B319-075839BD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04  THE DASHBOARD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32551A-493B-47C1-A9C3-903B26AF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Illustrative 30-day sample-data snapshot</a:t>
            </a:r>
            <a:endParaRPr sz="3200"/>
          </a:p>
        </p:txBody>
      </p:sp>
      <p:sp>
        <p:nvSpPr>
          <p:cNvPr id="4" name="KPI REVENUE">
            <a:extLst xmlns:a="http://schemas.openxmlformats.org/drawingml/2006/main">
              <a:ext uri="{FF2B5EF4-FFF2-40B4-BE49-F238E27FC236}">
                <a16:creationId xmlns:a16="http://schemas.microsoft.com/office/drawing/2014/main" id="{24B71043-B42E-4F96-BA9B-5EB5568D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148EA5B-7194-4295-ADA7-C055FEEB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REVENUE (USD)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583B2C-2472-48F6-92C8-64DAFB68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$23,125.42</a:t>
            </a:r>
            <a:endParaRPr sz="1500"/>
          </a:p>
        </p:txBody>
      </p:sp>
      <p:sp>
        <p:nvSpPr>
          <p:cNvPr id="7" name="KPI ORDERS">
            <a:extLst xmlns:a="http://schemas.openxmlformats.org/drawingml/2006/main">
              <a:ext uri="{FF2B5EF4-FFF2-40B4-BE49-F238E27FC236}">
                <a16:creationId xmlns:a16="http://schemas.microsoft.com/office/drawing/2014/main" id="{5DBF8E3B-8B3E-4BFD-9219-361384DE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86A2534-B637-4A6B-946C-1AC3A0ED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ORDERS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3A8C024-3726-4C26-B544-9A87F62D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66</a:t>
            </a:r>
            <a:endParaRPr sz="1500"/>
          </a:p>
        </p:txBody>
      </p:sp>
      <p:sp>
        <p:nvSpPr>
          <p:cNvPr id="10" name="KPI CUSTOMERS">
            <a:extLst xmlns:a="http://schemas.openxmlformats.org/drawingml/2006/main">
              <a:ext uri="{FF2B5EF4-FFF2-40B4-BE49-F238E27FC236}">
                <a16:creationId xmlns:a16="http://schemas.microsoft.com/office/drawing/2014/main" id="{04693771-FF48-4D48-BE4D-290B355F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E99AE5-A8D7-407C-9510-3FC37B48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CUSTOMERS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1AA5A93-6D32-4EE0-9AB5-8A986C57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10 active</a:t>
            </a:r>
            <a:endParaRPr sz="1500"/>
          </a:p>
        </p:txBody>
      </p:sp>
      <p:sp>
        <p:nvSpPr>
          <p:cNvPr id="13" name="KPI PRODUCTS">
            <a:extLst xmlns:a="http://schemas.openxmlformats.org/drawingml/2006/main">
              <a:ext uri="{FF2B5EF4-FFF2-40B4-BE49-F238E27FC236}">
                <a16:creationId xmlns:a16="http://schemas.microsoft.com/office/drawing/2014/main" id="{47194877-DB56-483D-9739-86220750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90E457-B2A2-46E4-8795-65FDF704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PRODUCTS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BB2B035-0A7F-4ADE-9E64-9023D9BC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20</a:t>
            </a:r>
            <a:endParaRPr sz="1500"/>
          </a:p>
        </p:txBody>
      </p:sp>
      <p:sp>
        <p:nvSpPr>
          <p:cNvPr id="16" name="KPI INVENTORY">
            <a:extLst xmlns:a="http://schemas.openxmlformats.org/drawingml/2006/main">
              <a:ext uri="{FF2B5EF4-FFF2-40B4-BE49-F238E27FC236}">
                <a16:creationId xmlns:a16="http://schemas.microsoft.com/office/drawing/2014/main" id="{A54BC5B8-B748-48C3-9C43-522F8F2B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BE6545C-4EF7-499F-9DDC-D6931D7F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INVENTORY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BF088B1-8762-482A-B058-8E0535A8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1 flagged</a:t>
            </a:r>
            <a:endParaRPr sz="1500"/>
          </a:p>
        </p:txBody>
      </p:sp>
      <p:sp>
        <p:nvSpPr>
          <p:cNvPr id="19" name="Chart card">
            <a:extLst xmlns:a="http://schemas.openxmlformats.org/drawingml/2006/main">
              <a:ext uri="{FF2B5EF4-FFF2-40B4-BE49-F238E27FC236}">
                <a16:creationId xmlns:a16="http://schemas.microsoft.com/office/drawing/2014/main" id="{56BE184B-199A-4C0D-BDF9-D015AD75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6355080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21" name="Alerts card">
            <a:extLst xmlns:a="http://schemas.openxmlformats.org/drawingml/2006/main">
              <a:ext uri="{FF2B5EF4-FFF2-40B4-BE49-F238E27FC236}">
                <a16:creationId xmlns:a16="http://schemas.microsoft.com/office/drawing/2014/main" id="{C4DB7551-9210-4659-8E3D-7EB990AD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46120"/>
            <a:ext cx="4023360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F4ABDCD-F430-494A-8545-991C1886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42900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3"/>
                </a:solidFill>
              </a:rPr>
              <a:t>ALERTS AND SUGGESTIONS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6260C9C-31F2-4006-B432-EB55DB53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9502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0F42DCD-6D44-4E56-A29E-9F0BFF4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bg1"/>
                </a:solidFill>
              </a:rPr>
              <a:t>Low stock: 4K Monitor</a:t>
            </a:r>
            <a:endParaRPr sz="18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5EEE1FA-E228-4362-AC3D-FB77D5F8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33672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7BDB6"/>
                </a:solidFill>
              </a:rPr>
              <a:t>4 left • about 5.2 days of cover • review a reorder draft</a:t>
            </a:r>
            <a:endParaRPr sz="13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3361AF5-54ED-462B-B783-8B39AEDA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9103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12700">
            <a:solidFill>
              <a:schemeClr val="accent5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2C2758A-264E-4B31-B682-805A865E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4632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bg1"/>
                </a:solidFill>
              </a:rPr>
              <a:t>High cancellation rate</a:t>
            </a:r>
            <a:endParaRPr sz="18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66494E4-21D0-440A-A66D-377971D6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93792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7BDB6"/>
                </a:solidFill>
              </a:rPr>
              <a:t>25.84% (23 orders) in the last 30 days</a:t>
            </a:r>
            <a:endParaRPr sz="13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EDF8A2E-33FE-479E-87B8-406A2550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4 / 7</a:t>
            </a:r>
            <a:endParaRPr sz="1200"/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4843A8BD-FC38-4203-BBC4-E2E1EC16C7C0}"/>
              </a:ext>
            </a:extLst>
          </p:cNvPr>
          <p:cNvGraphicFramePr/>
          <p:nvPr/>
        </p:nvGraphicFramePr>
        <p:xfrm>
          <a:off xmlns:a="http://schemas.openxmlformats.org/drawingml/2006/main" x="1005840" y="3337560"/>
          <a:ext xmlns:a="http://schemas.openxmlformats.org/drawingml/2006/main" cx="5989320" cy="25603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9740a82ee940e2"/>
          </a:graphicData>
        </a:graphic>
      </p:graphicFrame>
    </p:spTree>
    <p:extLst>
      <p:ext uri="{BB962C8B-B14F-4D97-AF65-F5344CB8AC3E}">
        <p14:creationId xmlns:p14="http://schemas.microsoft.com/office/powerpoint/2010/main" val="12292531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05EBEB6-0680-4903-B7E0-22A7AC48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3"/>
                </a:solidFill>
              </a:rPr>
              <a:t>05  AI BUSINESS ANALYST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32D21A4-8BBD-4693-A1EF-8AAA1D16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Answers that show their evidence</a:t>
            </a:r>
            <a:endParaRPr sz="4000"/>
          </a:p>
        </p:txBody>
      </p:sp>
      <p:sp>
        <p:nvSpPr>
          <p:cNvPr id="4" name="Analyst card 1">
            <a:extLst xmlns:a="http://schemas.openxmlformats.org/drawingml/2006/main">
              <a:ext uri="{FF2B5EF4-FFF2-40B4-BE49-F238E27FC236}">
                <a16:creationId xmlns:a16="http://schemas.microsoft.com/office/drawing/2014/main" id="{AB3F0993-BAF7-4F9B-87E7-398928E4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33832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0536C0-2EB3-42CA-9B53-C27225E0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Uses your data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C34200C-5AB1-408C-B028-E3177366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A built-in analyst grounds each answer in measured company metrics.</a:t>
            </a:r>
            <a:endParaRPr sz="1500"/>
          </a:p>
        </p:txBody>
      </p:sp>
      <p:sp>
        <p:nvSpPr>
          <p:cNvPr id="7" name="Analyst card 2">
            <a:extLst xmlns:a="http://schemas.openxmlformats.org/drawingml/2006/main">
              <a:ext uri="{FF2B5EF4-FFF2-40B4-BE49-F238E27FC236}">
                <a16:creationId xmlns:a16="http://schemas.microsoft.com/office/drawing/2014/main" id="{9CD799D7-3D84-41EF-A2EC-8BC0D25C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377440"/>
            <a:ext cx="33832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B77949-1B83-458B-ABA0-53F4E19F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Shows its evidence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487835-3689-4175-877D-4357FF8E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Every response names its period, sources and available data coverage.</a:t>
            </a:r>
            <a:endParaRPr sz="1500"/>
          </a:p>
        </p:txBody>
      </p:sp>
      <p:sp>
        <p:nvSpPr>
          <p:cNvPr id="10" name="Analyst card 3">
            <a:extLst xmlns:a="http://schemas.openxmlformats.org/drawingml/2006/main">
              <a:ext uri="{FF2B5EF4-FFF2-40B4-BE49-F238E27FC236}">
                <a16:creationId xmlns:a16="http://schemas.microsoft.com/office/drawing/2014/main" id="{E3072101-69EA-417A-B5C3-A0CC9058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77440"/>
            <a:ext cx="33832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EC551B-1BFF-43EC-A040-63969831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Admits its limits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7482861-0C80-4286-A619-7737153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20040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It flags missing context instead of inventing a cause.</a:t>
            </a:r>
            <a:endParaRPr sz="1500"/>
          </a:p>
        </p:txBody>
      </p:sp>
      <p:sp>
        <p:nvSpPr>
          <p:cNvPr id="13" name="Chip Period: [PLACEHOLDER]">
            <a:extLst xmlns:a="http://schemas.openxmlformats.org/drawingml/2006/main">
              <a:ext uri="{FF2B5EF4-FFF2-40B4-BE49-F238E27FC236}">
                <a16:creationId xmlns:a16="http://schemas.microsoft.com/office/drawing/2014/main" id="{366FA54A-A8FF-466C-B81C-7B2ECE4E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26517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F9A5598-FA98-40DE-AA3B-76264FF3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Period: Last 30 days</a:t>
            </a:r>
            <a:endParaRPr sz="1400"/>
          </a:p>
        </p:txBody>
      </p:sp>
      <p:sp>
        <p:nvSpPr>
          <p:cNvPr id="15" name="Chip Sources: [PLACEHOLDER]">
            <a:extLst xmlns:a="http://schemas.openxmlformats.org/drawingml/2006/main">
              <a:ext uri="{FF2B5EF4-FFF2-40B4-BE49-F238E27FC236}">
                <a16:creationId xmlns:a16="http://schemas.microsoft.com/office/drawing/2014/main" id="{F1D61E69-0D62-49BE-9CAF-F3387248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0560"/>
            <a:ext cx="26517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A85A893-50B9-4F8B-9DFD-BC96D287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056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Sources: Imported demo data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FE8AC17-C89B-4F16-B2E3-D5E2D70C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0561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2"/>
                </a:solidFill>
              </a:rPr>
              <a:t>Optional AI: OpenAI → Gemini fallback • streamed answers; built-in analyst always available.</a:t>
            </a:r>
            <a:endParaRPr sz="1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2C7FF21-BBDA-4B3C-B649-9E104464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7BDB6"/>
                </a:solidFill>
              </a:rPr>
              <a:t>5 / 7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067263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787466-B91D-4484-BE08-C3DBDB4C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06  IMPACT &amp; EVIDENCE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28BE5E-B9F5-4DB4-9E3C-D1A42F7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Public transactions analyzed. SME impact still to prove.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0B471A-15C3-432C-9D0A-C8CE9A31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1"/>
                </a:solidFill>
              </a:rPr>
              <a:t>UCI ONLINE RETAIL · CC BY 4.0 · 500-INVOICE SUBSET · 2010–2011</a:t>
            </a:r>
            <a:endParaRPr sz="1200"/>
          </a:p>
        </p:txBody>
      </p:sp>
      <p:sp>
        <p:nvSpPr>
          <p:cNvPr id="5" name="Benefit 1">
            <a:extLst xmlns:a="http://schemas.openxmlformats.org/drawingml/2006/main">
              <a:ext uri="{FF2B5EF4-FFF2-40B4-BE49-F238E27FC236}">
                <a16:creationId xmlns:a16="http://schemas.microsoft.com/office/drawing/2014/main" id="{81DE9277-FB5A-40F2-BB5F-2B56BC36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F3B4C7B-142E-402F-995B-74772B2A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517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1"/>
                </a:solidFill>
              </a:rPr>
              <a:t>Sales in the sample</a:t>
            </a:r>
            <a:endParaRPr sz="1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1C89D86-252C-4517-A426-7EF2EFAD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815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GBP 324,763.73 across 500 selected historical invoices.</a:t>
            </a:r>
            <a:endParaRPr sz="1500"/>
          </a:p>
        </p:txBody>
      </p:sp>
      <p:sp>
        <p:nvSpPr>
          <p:cNvPr id="8" name="Benefit 2">
            <a:extLst xmlns:a="http://schemas.openxmlformats.org/drawingml/2006/main">
              <a:ext uri="{FF2B5EF4-FFF2-40B4-BE49-F238E27FC236}">
                <a16:creationId xmlns:a16="http://schemas.microsoft.com/office/drawing/2014/main" id="{7B573A07-2E55-45B9-B709-78A5D579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4231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81F716D-F014-44B0-A397-CB305EAB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517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1"/>
                </a:solidFill>
              </a:rPr>
              <a:t>Customers + catalog</a:t>
            </a:r>
            <a:endParaRPr sz="1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2B14BC-BA38-4E11-A767-2C08D05D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15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393 customer IDs, 2,703 product codes, 15,119 sale lines.</a:t>
            </a:r>
            <a:endParaRPr sz="1500"/>
          </a:p>
        </p:txBody>
      </p:sp>
      <p:sp>
        <p:nvSpPr>
          <p:cNvPr id="11" name="Benefit 3">
            <a:extLst xmlns:a="http://schemas.openxmlformats.org/drawingml/2006/main">
              <a:ext uri="{FF2B5EF4-FFF2-40B4-BE49-F238E27FC236}">
                <a16:creationId xmlns:a16="http://schemas.microsoft.com/office/drawing/2014/main" id="{CC1ADDE3-94A6-497D-9181-E30967CB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31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AFF867-35ED-4C9D-B915-8DB4903A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517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1"/>
                </a:solidFill>
              </a:rPr>
              <a:t>Known data limits</a:t>
            </a:r>
            <a:endParaRPr sz="1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A56ECD1-A0EF-462B-83F7-544411BC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0815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No stock counts. GBP-to-USD conversion is indicative, not historical accounting FX.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2067DA5-09C7-4255-8C18-68E30F83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1"/>
                </a:solidFill>
              </a:rPr>
              <a:t>WHAT A REAL SME PILOT MUST MEASURE</a:t>
            </a:r>
            <a:endParaRPr sz="1200"/>
          </a:p>
        </p:txBody>
      </p:sp>
      <p:sp>
        <p:nvSpPr>
          <p:cNvPr id="15" name="Next step 1">
            <a:extLst xmlns:a="http://schemas.openxmlformats.org/drawingml/2006/main">
              <a:ext uri="{FF2B5EF4-FFF2-40B4-BE49-F238E27FC236}">
                <a16:creationId xmlns:a16="http://schemas.microsoft.com/office/drawing/2014/main" id="{188138D5-3DFF-4398-84FE-9C3A46CC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DD56349-4801-4ACB-B86F-76294666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091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3"/>
                </a:solidFill>
              </a:rPr>
              <a:t>Time returned</a:t>
            </a:r>
            <a:endParaRPr sz="19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CE170C3-06AC-49DB-93F4-8F2EDF53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1389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Compare minutes to prepare the same weekly report before and after.</a:t>
            </a:r>
            <a:endParaRPr sz="1500"/>
          </a:p>
        </p:txBody>
      </p:sp>
      <p:sp>
        <p:nvSpPr>
          <p:cNvPr id="18" name="Next step 2">
            <a:extLst xmlns:a="http://schemas.openxmlformats.org/drawingml/2006/main">
              <a:ext uri="{FF2B5EF4-FFF2-40B4-BE49-F238E27FC236}">
                <a16:creationId xmlns:a16="http://schemas.microsoft.com/office/drawing/2014/main" id="{3DB2BE8A-D3A4-49D3-9445-91BCDBE3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44805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25D879A-7E78-4474-942E-433ECCED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091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3"/>
                </a:solidFill>
              </a:rPr>
              <a:t>Operating cost</a:t>
            </a:r>
            <a:endParaRPr sz="1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E1502D6-DA1F-4DFC-A39B-9C8E969E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89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Track analyst hours and urgent replenishment costs against a baseline.</a:t>
            </a:r>
            <a:endParaRPr sz="1500"/>
          </a:p>
        </p:txBody>
      </p:sp>
      <p:sp>
        <p:nvSpPr>
          <p:cNvPr id="21" name="Next step 3">
            <a:extLst xmlns:a="http://schemas.openxmlformats.org/drawingml/2006/main">
              <a:ext uri="{FF2B5EF4-FFF2-40B4-BE49-F238E27FC236}">
                <a16:creationId xmlns:a16="http://schemas.microsoft.com/office/drawing/2014/main" id="{360DD1C0-46FE-4E25-A54C-BDAE514A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805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B9BE5A-8A2C-4CDA-A87B-65DFA303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91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3"/>
                </a:solidFill>
              </a:rPr>
              <a:t>Revenue protected</a:t>
            </a:r>
            <a:endParaRPr sz="1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351A86F-688F-4769-AF9F-6F7CDC9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1389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Measure recovered sales after stock alerts; no pilot results claimed yet.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20AC977-F820-40A9-806D-D2D37CF4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6 / 7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344711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4C206C-8E46-4908-A7E9-96BB4A27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3"/>
                </a:solidFill>
              </a:rPr>
              <a:t>09  CLOSING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9CAF34-717C-4E7F-B294-DFB5EC58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See the signal. Choose the next move.</a:t>
            </a:r>
            <a:endParaRPr sz="4000"/>
          </a:p>
        </p:txBody>
      </p:sp>
      <p:sp>
        <p:nvSpPr>
          <p:cNvPr id="4" name="Ask card 1">
            <a:extLst xmlns:a="http://schemas.openxmlformats.org/drawingml/2006/main">
              <a:ext uri="{FF2B5EF4-FFF2-40B4-BE49-F238E27FC236}">
                <a16:creationId xmlns:a16="http://schemas.microsoft.com/office/drawing/2014/main" id="{E1BEB69B-54B1-43E4-B193-8DE2EEEC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40280"/>
            <a:ext cx="338328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CE4ED4-2046-4553-A149-2DB7CA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146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Explore the dashboard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97AE29-B93B-4663-8937-9942F7F5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Review performance, customer segments and inventory risk from your company data.</a:t>
            </a:r>
            <a:endParaRPr sz="1500"/>
          </a:p>
        </p:txBody>
      </p:sp>
      <p:sp>
        <p:nvSpPr>
          <p:cNvPr id="7" name="Ask card 2">
            <a:extLst xmlns:a="http://schemas.openxmlformats.org/drawingml/2006/main">
              <a:ext uri="{FF2B5EF4-FFF2-40B4-BE49-F238E27FC236}">
                <a16:creationId xmlns:a16="http://schemas.microsoft.com/office/drawing/2014/main" id="{007BB93B-5E87-4042-B552-0DEBD309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240280"/>
            <a:ext cx="338328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1A1593-56F3-49E2-AB2E-702681A5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Ask the analyst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8727529-BD00-4B34-9DDE-8608B82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088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Get streamed, evidence-based answers with clear limits.</a:t>
            </a:r>
            <a:endParaRPr sz="1500"/>
          </a:p>
        </p:txBody>
      </p:sp>
      <p:sp>
        <p:nvSpPr>
          <p:cNvPr id="10" name="Ask card 3">
            <a:extLst xmlns:a="http://schemas.openxmlformats.org/drawingml/2006/main">
              <a:ext uri="{FF2B5EF4-FFF2-40B4-BE49-F238E27FC236}">
                <a16:creationId xmlns:a16="http://schemas.microsoft.com/office/drawing/2014/main" id="{ED44FCF7-46CB-4274-A0F2-CFA7032E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0280"/>
            <a:ext cx="338328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522A1E-4468-4B63-803B-3C3ACE83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5146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Take a closer look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A2B956-7BBB-4342-8E00-3419AD7C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90088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Open the live demo and explore the project.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67707B8-8C04-46BD-A856-64E0B52C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51960"/>
            <a:ext cx="10561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chemeClr val="accent2"/>
                </a:solidFill>
              </a:rPr>
              <a:t>Clearview BI. See your business clearly.</a:t>
            </a:r>
            <a:endParaRPr sz="2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4620C8-6D13-4348-9E61-9E12EAE6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10561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Basmala Azab  |  Sara Basem  |  Shahd Elgouhary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68DB7F7-3418-4F1E-98BF-E89B489C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0561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A7BDB6"/>
                </a:solidFill>
              </a:rPr>
              <a:t>Demo materials: https://drive.google.com/drive/folders/1Tt_gjh2BhU9H3v-cLi4IyI7QRTdyaRDh?usp=sharing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A7BDB6"/>
                </a:solidFill>
              </a:rPr>
              <a:t>Source code: https://github.com/basmalaazab/Clearview-BI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42A882A-AE52-4F06-B02B-D4F208F7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7BDB6"/>
                </a:solidFill>
              </a:rPr>
              <a:t>7 / 7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464021911"/>
      </p:ext>
    </p:extLst>
  </p:cSld>
</p:sld>
</file>

<file path=ppt/theme/theme1.xml><?xml version="1.0" encoding="utf-8"?>
<a:theme xmlns:a="http://schemas.openxmlformats.org/drawingml/2006/main" name="Clearview BI Emerald">
  <a:themeElements>
    <a:clrScheme name="Clearview BI Emerald">
      <a:dk1>
        <a:srgbClr val="0B2B26"/>
      </a:dk1>
      <a:lt1>
        <a:srgbClr val="FFFFFF"/>
      </a:lt1>
      <a:dk2>
        <a:srgbClr val="13403B"/>
      </a:dk2>
      <a:lt2>
        <a:srgbClr val="F6F8F5"/>
      </a:lt2>
      <a:accent1>
        <a:srgbClr val="0F7A58"/>
      </a:accent1>
      <a:accent2>
        <a:srgbClr val="E8B04B"/>
      </a:accent2>
      <a:accent3>
        <a:srgbClr val="34D399"/>
      </a:accent3>
      <a:accent4>
        <a:srgbClr val="10B981"/>
      </a:accent4>
      <a:accent5>
        <a:srgbClr val="F87171"/>
      </a:accent5>
      <a:accent6>
        <a:srgbClr val="5E6F69"/>
      </a:accent6>
      <a:hlink>
        <a:srgbClr val="34D399"/>
      </a:hlink>
      <a:folHlink>
        <a:srgbClr val="5E6F69"/>
      </a:folHlink>
    </a:clrScheme>
    <a:fontScheme name="Clearview BI Emerald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learview BI Emeral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2026-10-09T02:18:58.8470000Z</dcterms:created>
  <dcterms:modified xsi:type="dcterms:W3CDTF">2026-10-09T02:18:58.8480000Z</dcterms:modified>
</coreProperties>
</file>