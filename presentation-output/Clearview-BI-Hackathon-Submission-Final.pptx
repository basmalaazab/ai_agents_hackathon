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37e689d4e4e3a" /><Relationship Type="http://schemas.openxmlformats.org/officeDocument/2006/relationships/extended-properties" Target="/docProps/app.xml" Id="R6e0a4b1a01dd48d2" /><Relationship Type="http://schemas.openxmlformats.org/officeDocument/2006/relationships/officeDocument" Target="/ppt/presentation.xml" Id="R4c70d9867619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97b633455f4075"/>
  </p:sldMasterIdLst>
  <p:notesMasterIdLst>
    <p:notesMasterId xmlns:r="http://schemas.openxmlformats.org/officeDocument/2006/relationships" r:id="R6f6d981f636e4529"/>
  </p:notesMasterIdLst>
  <p:sldIdLst>
    <p:sldId xmlns:r="http://schemas.openxmlformats.org/officeDocument/2006/relationships" id="256" r:id="R95e7717937124128"/>
    <p:sldId xmlns:r="http://schemas.openxmlformats.org/officeDocument/2006/relationships" id="257" r:id="R846611a868ba4577"/>
    <p:sldId xmlns:r="http://schemas.openxmlformats.org/officeDocument/2006/relationships" id="258" r:id="Re093c4bf672c4e8b"/>
    <p:sldId xmlns:r="http://schemas.openxmlformats.org/officeDocument/2006/relationships" id="259" r:id="R557b9e41e3cb4265"/>
    <p:sldId xmlns:r="http://schemas.openxmlformats.org/officeDocument/2006/relationships" id="260" r:id="Rdf87f1496e4b4c99"/>
    <p:sldId xmlns:r="http://schemas.openxmlformats.org/officeDocument/2006/relationships" id="261" r:id="R5d124ce51bf344b0"/>
    <p:sldId xmlns:r="http://schemas.openxmlformats.org/officeDocument/2006/relationships" id="262" r:id="Rd1f0646bc65543a2"/>
    <p:sldId xmlns:r="http://schemas.openxmlformats.org/officeDocument/2006/relationships" id="263" r:id="Raeb2bde434204ebf"/>
    <p:sldId xmlns:r="http://schemas.openxmlformats.org/officeDocument/2006/relationships" id="264" r:id="R82a0cacee8964fb9"/>
    <p:sldId xmlns:r="http://schemas.openxmlformats.org/officeDocument/2006/relationships" id="265" r:id="R3de2ec3a7fb6428f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046fe13cc8456f" /><Relationship Type="http://schemas.openxmlformats.org/officeDocument/2006/relationships/slideMaster" Target="/ppt/slideMasters/slideMaster1.xml" Id="R2e97b633455f4075" /><Relationship Type="http://schemas.openxmlformats.org/officeDocument/2006/relationships/notesMaster" Target="/ppt/notesMasters/notesMaster1.xml" Id="R6f6d981f636e4529" /><Relationship Type="http://schemas.openxmlformats.org/officeDocument/2006/relationships/presProps" Target="/ppt/presProps.xml" Id="Re38c3d368a934911" /><Relationship Type="http://schemas.openxmlformats.org/officeDocument/2006/relationships/viewProps" Target="/ppt/viewProps.xml" Id="Rc40a1614a0da40a3" /><Relationship Type="http://schemas.openxmlformats.org/officeDocument/2006/relationships/tableStyles" Target="/ppt/tableStyles.xml" Id="R8d57be9ca70146f9" /><Relationship Type="http://schemas.openxmlformats.org/officeDocument/2006/relationships/slide" Target="/ppt/slides/slide1.xml" Id="R95e7717937124128" /><Relationship Type="http://schemas.openxmlformats.org/officeDocument/2006/relationships/slide" Target="/ppt/slides/slide2.xml" Id="R846611a868ba4577" /><Relationship Type="http://schemas.openxmlformats.org/officeDocument/2006/relationships/slide" Target="/ppt/slides/slide3.xml" Id="Re093c4bf672c4e8b" /><Relationship Type="http://schemas.openxmlformats.org/officeDocument/2006/relationships/slide" Target="/ppt/slides/slide4.xml" Id="R557b9e41e3cb4265" /><Relationship Type="http://schemas.openxmlformats.org/officeDocument/2006/relationships/slide" Target="/ppt/slides/slide5.xml" Id="Rdf87f1496e4b4c99" /><Relationship Type="http://schemas.openxmlformats.org/officeDocument/2006/relationships/slide" Target="/ppt/slides/slide6.xml" Id="R5d124ce51bf344b0" /><Relationship Type="http://schemas.openxmlformats.org/officeDocument/2006/relationships/slide" Target="/ppt/slides/slide7.xml" Id="Rd1f0646bc65543a2" /><Relationship Type="http://schemas.openxmlformats.org/officeDocument/2006/relationships/slide" Target="/ppt/slides/slide8.xml" Id="Raeb2bde434204ebf" /><Relationship Type="http://schemas.openxmlformats.org/officeDocument/2006/relationships/slide" Target="/ppt/slides/slide9.xml" Id="R82a0cacee8964fb9" /><Relationship Type="http://schemas.openxmlformats.org/officeDocument/2006/relationships/slide" Target="/ppt/slides/slide10.xml" Id="R3de2ec3a7fb6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db1da61cc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74ecdbe0dd4763" /><Relationship Type="http://schemas.openxmlformats.org/officeDocument/2006/relationships/notesMaster" Target="/ppt/notesMasters/notesMaster1.xml" Id="R750891f19a5d42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e94ef304e44a9b" /><Relationship Type="http://schemas.openxmlformats.org/officeDocument/2006/relationships/notesMaster" Target="/ppt/notesMasters/notesMaster1.xml" Id="R092855f884d14a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72c3de05724c52" /><Relationship Type="http://schemas.openxmlformats.org/officeDocument/2006/relationships/notesMaster" Target="/ppt/notesMasters/notesMaster1.xml" Id="R8fa117cc6bb64b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f3e570e92f4005" /><Relationship Type="http://schemas.openxmlformats.org/officeDocument/2006/relationships/notesMaster" Target="/ppt/notesMasters/notesMaster1.xml" Id="R1e76e74c7c97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a22b0fb4142e6" /><Relationship Type="http://schemas.openxmlformats.org/officeDocument/2006/relationships/notesMaster" Target="/ppt/notesMasters/notesMaster1.xml" Id="R699d7a06af2641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f185146c8c4606" /><Relationship Type="http://schemas.openxmlformats.org/officeDocument/2006/relationships/notesMaster" Target="/ppt/notesMasters/notesMaster1.xml" Id="R13c808cb4f9a4d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c737d3679c456c" /><Relationship Type="http://schemas.openxmlformats.org/officeDocument/2006/relationships/notesMaster" Target="/ppt/notesMasters/notesMaster1.xml" Id="Rfdedbaafc7754a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ba8837285d4aaa" /><Relationship Type="http://schemas.openxmlformats.org/officeDocument/2006/relationships/notesMaster" Target="/ppt/notesMasters/notesMaster1.xml" Id="Re35af97da8ce44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909cb5d843441b" /><Relationship Type="http://schemas.openxmlformats.org/officeDocument/2006/relationships/notesMaster" Target="/ppt/notesMasters/notesMaster1.xml" Id="Rfc3c5025ee64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90a62282c24443" /><Relationship Type="http://schemas.openxmlformats.org/officeDocument/2006/relationships/notesMaster" Target="/ppt/notesMasters/notesMaster1.xml" Id="Re5a9b443638b4a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f9095d74b49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18e0d07384a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686f22a62495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2C370A-FE69-44EE-ADCE-E50C5B9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Clearview BI</a:t>
            </a:r>
            <a:endParaRPr sz="12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8DBEA7-1186-408B-8360-9A6D6B6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F69"/>
                </a:solidFill>
              </a:rPr>
              <a:t>Clearview BI</a:t>
            </a:r>
            <a:endParaRPr sz="12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73fa3890e4a4c" /><Relationship Type="http://schemas.openxmlformats.org/officeDocument/2006/relationships/slideLayout" Target="/ppt/slideLayouts/slideLayout1.xml" Id="Ra8c87700cdea4583" /><Relationship Type="http://schemas.openxmlformats.org/officeDocument/2006/relationships/slideLayout" Target="/ppt/slideLayouts/slideLayout2.xml" Id="Rb277297b99d5441b" /><Relationship Type="http://schemas.openxmlformats.org/officeDocument/2006/relationships/slideLayout" Target="/ppt/slideLayouts/slideLayout3.xml" Id="R2a4c8d73c6f54a0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87700cdea4583"/>
    <p:sldLayoutId xmlns:r="http://schemas.openxmlformats.org/officeDocument/2006/relationships" id="2147483650" r:id="Rb277297b99d5441b"/>
    <p:sldLayoutId xmlns:r="http://schemas.openxmlformats.org/officeDocument/2006/relationships" id="2147483651" r:id="R2a4c8d73c6f54a0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856e0114ec4dff" /><Relationship Type="http://schemas.openxmlformats.org/officeDocument/2006/relationships/notesSlide" Target="/ppt/notesSlides/notesSlide1.xml" Id="Rd079fa520add4f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21c56f379f4295" /><Relationship Type="http://schemas.openxmlformats.org/officeDocument/2006/relationships/notesSlide" Target="/ppt/notesSlides/notesSlide2.xml" Id="Ra20137ee6f424e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d8c6f573024a85" /><Relationship Type="http://schemas.openxmlformats.org/officeDocument/2006/relationships/notesSlide" Target="/ppt/notesSlides/notesSlide3.xml" Id="R692e50a3a7bf45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2d59c9afdb422c" /><Relationship Type="http://schemas.openxmlformats.org/officeDocument/2006/relationships/notesSlide" Target="/ppt/notesSlides/notesSlide4.xml" Id="Re7cd62406a6e48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4d46d57f344f79" /><Relationship Type="http://schemas.openxmlformats.org/officeDocument/2006/relationships/chart" Target="/ppt/slides/charts/chart1.xml" Id="Rabc6cea705ab415d" /><Relationship Type="http://schemas.openxmlformats.org/officeDocument/2006/relationships/notesSlide" Target="/ppt/notesSlides/notesSlide5.xml" Id="R96a265631a7249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b3a6e26e574077" /><Relationship Type="http://schemas.openxmlformats.org/officeDocument/2006/relationships/notesSlide" Target="/ppt/notesSlides/notesSlide6.xml" Id="R8fad7dd3144643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2abd7c391545d1" /><Relationship Type="http://schemas.openxmlformats.org/officeDocument/2006/relationships/notesSlide" Target="/ppt/notesSlides/notesSlide7.xml" Id="R8aa878ccb0994a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32d28f53ca44be" /><Relationship Type="http://schemas.openxmlformats.org/officeDocument/2006/relationships/notesSlide" Target="/ppt/notesSlides/notesSlide8.xml" Id="R29871cabdf13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284230f720444e" /><Relationship Type="http://schemas.openxmlformats.org/officeDocument/2006/relationships/notesSlide" Target="/ppt/notesSlides/notesSlide9.xml" Id="R76dd9b2c2ab342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36a88afd64a51" /><Relationship Type="http://schemas.openxmlformats.org/officeDocument/2006/relationships/notesSlide" Target="/ppt/notesSlides/notesSlide10.xml" Id="R435647b7fe8c4e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E6F69"/>
                </a:solidFill>
              </a:rPr>
              <a:t>Revenue by 6-day period (USD) • last 30 days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E6F69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Revenue (USD)</c:v>
          </c:tx>
          <c:spPr>
            <a:solidFill xmlns:a="http://schemas.openxmlformats.org/drawingml/2006/main">
              <a:srgbClr val="0F7A58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Sep 9–14</c:v>
                </c:pt>
                <c:pt idx="1">
                  <c:v>Sep 15–20</c:v>
                </c:pt>
                <c:pt idx="2">
                  <c:v>Sep 21–26</c:v>
                </c:pt>
                <c:pt idx="3">
                  <c:v>Sep 27–Oct 2</c:v>
                </c:pt>
                <c:pt idx="4">
                  <c:v>Oct 3–8</c:v>
                </c:pt>
              </c:strCache>
            </c:strRef>
          </c:cat>
          <c:val>
            <c:numRef>
              <c:f>'Chart Data'!$B$2:$B$6</c:f>
              <c:numCache>
                <c:formatCode>$#,##0</c:formatCode>
                <c:ptCount val="5"/>
                <c:pt idx="0">
                  <c:v>3752.89</c:v>
                </c:pt>
                <c:pt idx="1">
                  <c:v>6111.89</c:v>
                </c:pt>
                <c:pt idx="2">
                  <c:v>6741.83</c:v>
                </c:pt>
                <c:pt idx="3">
                  <c:v>4478.86</c:v>
                </c:pt>
                <c:pt idx="4">
                  <c:v>2039.95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5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B0E592-ECF9-46D7-8036-77CB34F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17904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334"/>
          </a:solidFill>
          <a:ln xmlns:a="http://schemas.openxmlformats.org/drawingml/2006/main" w="12700">
            <a:solidFill>
              <a:srgbClr val="0A4334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525560E-7177-498F-89EC-4E96AB9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566160"/>
            <a:ext cx="1901952" cy="1901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24000"/>
            </a:schemeClr>
          </a:solidFill>
          <a:ln xmlns:a="http://schemas.openxmlformats.org/drawingml/2006/main"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337FC2-9AD2-4E69-9F93-9EA3C83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chemeClr val="accent3"/>
                </a:solidFill>
              </a:rPr>
              <a:t>AGENTS AT WORK HACKATHON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B66EFE-31C4-4A09-8C03-6C91874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7498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0" b="1">
                <a:solidFill>
                  <a:schemeClr val="bg1"/>
                </a:solidFill>
              </a:rPr>
              <a:t>Clearview BI</a:t>
            </a:r>
            <a:endParaRPr sz="8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287055-AF6B-43B8-943C-2CDC214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6949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One clear view.</a:t>
            </a:r>
            <a:endParaRPr sz="3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Better next moves.</a:t>
            </a:r>
            <a:endParaRPr sz="3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815E53-C98A-4D4C-924F-00EF24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A7BDB6"/>
                </a:solidFill>
              </a:rPr>
              <a:t>Business intelligence and an AI analyst for startups and small businesses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366916-8010-4B7A-882A-D0D8F26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Basmala Azab  |  Sara Basem  |  Shahd Elgouhary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82371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E451C7-6188-44E3-B6E2-27F464E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01  THE PROBLEM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B8209C-781D-4EFF-8FAD-C997194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Scattered data hides how the business is doing</a:t>
            </a:r>
            <a:endParaRPr sz="3200"/>
          </a:p>
        </p:txBody>
      </p:sp>
      <p:sp>
        <p:nvSpPr>
          <p:cNvPr id="4" name="Problem card 1">
            <a:extLst xmlns:a="http://schemas.openxmlformats.org/drawingml/2006/main">
              <a:ext uri="{FF2B5EF4-FFF2-40B4-BE49-F238E27FC236}">
                <a16:creationId xmlns:a16="http://schemas.microsoft.com/office/drawing/2014/main" id="{7A857F19-C1E0-47D2-8E82-7739F05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FBF3D2-7F39-455A-A592-D27A2DA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Data lives everywhere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49763-48CE-4F09-9F70-2073BAD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Payments, online stores and CSV files each hold a separate piece of the picture.</a:t>
            </a:r>
            <a:endParaRPr sz="1500"/>
          </a:p>
        </p:txBody>
      </p:sp>
      <p:sp>
        <p:nvSpPr>
          <p:cNvPr id="7" name="Problem card 2">
            <a:extLst xmlns:a="http://schemas.openxmlformats.org/drawingml/2006/main">
              <a:ext uri="{FF2B5EF4-FFF2-40B4-BE49-F238E27FC236}">
                <a16:creationId xmlns:a16="http://schemas.microsoft.com/office/drawing/2014/main" id="{936C575F-8C50-4645-8994-0141CF2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F3863A-4510-4E6C-B05E-93A01E52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No single view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E05D37-C3F2-4C38-8ABF-196D67E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Revenue, orders, customers and stock are hard to see together.</a:t>
            </a:r>
            <a:endParaRPr sz="1500"/>
          </a:p>
        </p:txBody>
      </p:sp>
      <p:sp>
        <p:nvSpPr>
          <p:cNvPr id="10" name="Problem card 3">
            <a:extLst xmlns:a="http://schemas.openxmlformats.org/drawingml/2006/main">
              <a:ext uri="{FF2B5EF4-FFF2-40B4-BE49-F238E27FC236}">
                <a16:creationId xmlns:a16="http://schemas.microsoft.com/office/drawing/2014/main" id="{8B142DFE-AB45-42E0-B5A0-6D07E7E0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697AF4-5DB0-46AC-9890-73AE99E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Harder decisions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B2D5C0-5D82-43EC-AE1B-55D9EAB2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Without one clear view, it is harder to understand performance and decide with confidence.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5B5584-4438-4A00-9D85-13952F6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1"/>
                </a:solidFill>
              </a:rPr>
              <a:t>The result: it is harder to make informed decisions.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EFB976-D14B-47A6-837A-AB45DBE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2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54630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FC6881-53F1-499B-AB5B-D54A8165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02  THE SOLUTION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E51679-02D1-4A56-8E1A-026E6A5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From scattered data to confident decisions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53ADC3-83B9-404E-B30B-7D8C865A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751682-5B80-4E1F-BF8C-5955FF8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8600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Company workspaces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1755C9-7FA8-47FB-AD45-9962FE3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3347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Each business gets its own workspace for data and its team.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43D48D-753F-42CE-96A8-F08B02A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A879B3-9DB7-40FF-A79B-5AF4011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4612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CSV + Stripe Test Mode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EBC4BE-24E0-4D24-89E0-E76C30D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9359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business files or sync Stripe test data. Supported currencies convert to USD at available daily rates.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9454D4-C95F-4690-B985-F7BD523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FDACAA-2FA0-4870-A339-4368594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0624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Analytics &amp; alerts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46E060-0AA1-42B4-AB15-FC537D3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5371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KPIs, trends, low-stock alerts and RFM customer segments.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17DA5D4-0268-4AF5-AB5E-72DB791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F8C62A-D24B-456E-AC47-DEF5AED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6636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AI Business Analyst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530B1-FBD1-46A3-B5A7-19ABE9B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1383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Optional AI: OpenAI first, Gemini fallback; built-in analysis stays available.</a:t>
            </a:r>
            <a:endParaRPr sz="1400"/>
          </a:p>
        </p:txBody>
      </p:sp>
      <p:sp>
        <p:nvSpPr>
          <p:cNvPr id="16" name="Example card">
            <a:extLst xmlns:a="http://schemas.openxmlformats.org/drawingml/2006/main">
              <a:ext uri="{FF2B5EF4-FFF2-40B4-BE49-F238E27FC236}">
                <a16:creationId xmlns:a16="http://schemas.microsoft.com/office/drawing/2014/main" id="{6E97770D-A4FD-49D3-8ECD-04EE812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4562856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4AB568-142B-40EC-855C-13C79BB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060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ILLUSTRATIVE EXAMPLE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5BF696-385D-4370-8A07-BAF672A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2608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Is our top product at stockout risk?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92616F-14D0-48A4-8801-A557CFD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03320"/>
            <a:ext cx="3931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4E4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ADCB62-B121-4DB8-A13C-DB1BCC9F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EVIDENCE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81826C-41E4-4134-BDF0-09AC4A8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1480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4 units left • about 5.2 days of cover • 23 sold in 30 days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5F15930-8E0C-4367-B88A-7AB8C8A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46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2"/>
                </a:solidFill>
              </a:rPr>
              <a:t>SUGGESTION TO VALIDATE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5FA0385-81CD-49FE-946F-8AD385C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20640"/>
            <a:ext cx="3931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Prepare a suggested reorder quantity for manager review. No order is placed.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8D2FF4-D6D0-4EAA-BC3F-4515067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3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96434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CBED5C-2EB9-40F3-BC02-8DFE527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03  HOW IT WORKS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FD6E9E-966B-447C-9361-9B2F6645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Three steps from scattered data to insight</a:t>
            </a:r>
            <a:endParaRPr sz="3200"/>
          </a:p>
        </p:txBody>
      </p:sp>
      <p:sp>
        <p:nvSpPr>
          <p:cNvPr id="4" name="Step card 1">
            <a:extLst xmlns:a="http://schemas.openxmlformats.org/drawingml/2006/main">
              <a:ext uri="{FF2B5EF4-FFF2-40B4-BE49-F238E27FC236}">
                <a16:creationId xmlns:a16="http://schemas.microsoft.com/office/drawing/2014/main" id="{73EB92EE-BBA3-43F4-A571-26DE7A7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3154680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64707D-8157-4039-8F11-BEDE44F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1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227AA7-9850-42E2-929F-40CB84C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91840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Create a workspace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4ABEF9-D8EA-43FF-8E0B-2A3DC36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49040"/>
            <a:ext cx="2606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Set up a company account with its own separate workspace.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179142-E526-4F55-BD79-4C4051A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520440"/>
            <a:ext cx="45720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9" name="Step card 2">
            <a:extLst xmlns:a="http://schemas.openxmlformats.org/drawingml/2006/main">
              <a:ext uri="{FF2B5EF4-FFF2-40B4-BE49-F238E27FC236}">
                <a16:creationId xmlns:a16="http://schemas.microsoft.com/office/drawing/2014/main" id="{DD107DFC-46C8-4EAB-B49F-6CB215F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377440"/>
            <a:ext cx="3154680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74B6C4-C421-435E-80F4-AAF6E80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2</a:t>
            </a:r>
            <a:endParaRPr sz="4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5643FA-09FE-488B-BA1A-E0E7B357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1840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Bring in your data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820588-B82C-4139-9154-4B8357B9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49040"/>
            <a:ext cx="2606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CSV files, or connect Stripe using a test key.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29D4F9-3944-4F52-9082-BC2121E3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520440"/>
            <a:ext cx="45720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4" name="Step card 3">
            <a:extLst xmlns:a="http://schemas.openxmlformats.org/drawingml/2006/main">
              <a:ext uri="{FF2B5EF4-FFF2-40B4-BE49-F238E27FC236}">
                <a16:creationId xmlns:a16="http://schemas.microsoft.com/office/drawing/2014/main" id="{3634347F-D778-4069-95B0-01C2F29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7440"/>
            <a:ext cx="3154680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DA8FAAD-CD19-4BE2-9779-675DE5DE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514600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3</a:t>
            </a:r>
            <a:endParaRPr sz="4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46AF56-B804-4E28-8B47-91A72B16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91840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Review dashboard</a:t>
            </a:r>
            <a:endParaRPr sz="2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824E6BB-43A1-4103-BA2A-1C636DB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749040"/>
            <a:ext cx="2606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See metrics and alerts, then ask the AI Business Analyst.</a:t>
            </a:r>
            <a:endParaRPr sz="1400"/>
          </a:p>
        </p:txBody>
      </p:sp>
      <p:sp>
        <p:nvSpPr>
          <p:cNvPr id="18" name="Stripe note">
            <a:extLst xmlns:a="http://schemas.openxmlformats.org/drawingml/2006/main">
              <a:ext uri="{FF2B5EF4-FFF2-40B4-BE49-F238E27FC236}">
                <a16:creationId xmlns:a16="http://schemas.microsoft.com/office/drawing/2014/main" id="{CBA52244-18D8-427E-8A35-74CC0221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056132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5795EDD-689A-4A31-BF61-ABDFF0E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0640"/>
            <a:ext cx="9921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accent3"/>
                </a:solidFill>
              </a:rPr>
              <a:t>Stripe Test Mode sync is available. Dashboard figures in this deck use imported demo data.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2296654-8146-4DDF-8100-10CC1F4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4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04367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5F8784-74DE-4D9F-B319-075839B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04  THE DASHBOARD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32551A-493B-47C1-A9C3-903B26A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Illustrative 30-day sample-data snapshot</a:t>
            </a:r>
            <a:endParaRPr sz="3200"/>
          </a:p>
        </p:txBody>
      </p:sp>
      <p:sp>
        <p:nvSpPr>
          <p:cNvPr id="4" name="KPI REVENUE">
            <a:extLst xmlns:a="http://schemas.openxmlformats.org/drawingml/2006/main">
              <a:ext uri="{FF2B5EF4-FFF2-40B4-BE49-F238E27FC236}">
                <a16:creationId xmlns:a16="http://schemas.microsoft.com/office/drawing/2014/main" id="{24B71043-B42E-4F96-BA9B-5EB5568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48EA5B-7194-4295-ADA7-C055FEEB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REVENUE (USD)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583B2C-2472-48F6-92C8-64DAFB6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$23,125.42</a:t>
            </a:r>
            <a:endParaRPr sz="1500"/>
          </a:p>
        </p:txBody>
      </p:sp>
      <p:sp>
        <p:nvSpPr>
          <p:cNvPr id="7" name="KPI ORDERS">
            <a:extLst xmlns:a="http://schemas.openxmlformats.org/drawingml/2006/main">
              <a:ext uri="{FF2B5EF4-FFF2-40B4-BE49-F238E27FC236}">
                <a16:creationId xmlns:a16="http://schemas.microsoft.com/office/drawing/2014/main" id="{5DBF8E3B-8B3E-4BFD-9219-361384D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6A2534-B637-4A6B-946C-1AC3A0E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ORDERS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A8C024-3726-4C26-B544-9A87F62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66</a:t>
            </a:r>
            <a:endParaRPr sz="1500"/>
          </a:p>
        </p:txBody>
      </p:sp>
      <p:sp>
        <p:nvSpPr>
          <p:cNvPr id="10" name="KPI CUSTOMERS">
            <a:extLst xmlns:a="http://schemas.openxmlformats.org/drawingml/2006/main">
              <a:ext uri="{FF2B5EF4-FFF2-40B4-BE49-F238E27FC236}">
                <a16:creationId xmlns:a16="http://schemas.microsoft.com/office/drawing/2014/main" id="{04693771-FF48-4D48-BE4D-290B355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E99AE5-A8D7-407C-9510-3FC37B4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CUSTOMERS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AA5A93-6D32-4EE0-9AB5-8A986C57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10 active</a:t>
            </a:r>
            <a:endParaRPr sz="1500"/>
          </a:p>
        </p:txBody>
      </p:sp>
      <p:sp>
        <p:nvSpPr>
          <p:cNvPr id="13" name="KPI PRODUCTS">
            <a:extLst xmlns:a="http://schemas.openxmlformats.org/drawingml/2006/main">
              <a:ext uri="{FF2B5EF4-FFF2-40B4-BE49-F238E27FC236}">
                <a16:creationId xmlns:a16="http://schemas.microsoft.com/office/drawing/2014/main" id="{47194877-DB56-483D-9739-8622075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90E457-B2A2-46E4-8795-65FDF704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PRODUCTS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B2B035-0A7F-4ADE-9E64-9023D9B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20</a:t>
            </a:r>
            <a:endParaRPr sz="1500"/>
          </a:p>
        </p:txBody>
      </p:sp>
      <p:sp>
        <p:nvSpPr>
          <p:cNvPr id="16" name="KPI INVENTORY">
            <a:extLst xmlns:a="http://schemas.openxmlformats.org/drawingml/2006/main">
              <a:ext uri="{FF2B5EF4-FFF2-40B4-BE49-F238E27FC236}">
                <a16:creationId xmlns:a16="http://schemas.microsoft.com/office/drawing/2014/main" id="{A54BC5B8-B748-48C3-9C43-522F8F2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E6545C-4EF7-499F-9DDC-D6931D7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INVENTORY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F088B1-8762-482A-B058-8E0535A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 flagged</a:t>
            </a:r>
            <a:endParaRPr sz="1500"/>
          </a:p>
        </p:txBody>
      </p:sp>
      <p:sp>
        <p:nvSpPr>
          <p:cNvPr id="19" name="Chart card">
            <a:extLst xmlns:a="http://schemas.openxmlformats.org/drawingml/2006/main">
              <a:ext uri="{FF2B5EF4-FFF2-40B4-BE49-F238E27FC236}">
                <a16:creationId xmlns:a16="http://schemas.microsoft.com/office/drawing/2014/main" id="{56BE184B-199A-4C0D-BDF9-D015AD7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635508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21" name="Alerts card">
            <a:extLst xmlns:a="http://schemas.openxmlformats.org/drawingml/2006/main">
              <a:ext uri="{FF2B5EF4-FFF2-40B4-BE49-F238E27FC236}">
                <a16:creationId xmlns:a16="http://schemas.microsoft.com/office/drawing/2014/main" id="{C4DB7551-9210-4659-8E3D-7EB990A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46120"/>
            <a:ext cx="402336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F4ABDCD-F430-494A-8545-991C188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429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ALERTS AND SUGGESTIONS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6260C9C-31F2-4006-B432-EB55DB5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9502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0F42DCD-6D44-4E56-A29E-9F0BFF4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Low stock: 4K Monitor</a:t>
            </a:r>
            <a:endParaRPr sz="1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5EEE1FA-E228-4362-AC3D-FB77D5F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367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4 left • about 5.2 days of cover • review a reorder draft</a:t>
            </a:r>
            <a:endParaRPr sz="13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3361AF5-54ED-462B-B783-8B39AED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103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12700">
            <a:solidFill>
              <a:schemeClr val="accent5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2C2758A-264E-4B31-B682-805A865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632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High cancellation rate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66494E4-21D0-440A-A66D-377971D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379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25.84% (23 orders) in the last 30 days</a:t>
            </a:r>
            <a:endParaRPr sz="13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EDF8A2E-33FE-479E-87B8-406A255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5 / 10</a:t>
            </a:r>
            <a:endParaRPr sz="1200"/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02BD84A4-D40F-41D1-9175-C5CE73CA0617}"/>
              </a:ext>
            </a:extLst>
          </p:cNvPr>
          <p:cNvGraphicFramePr/>
          <p:nvPr/>
        </p:nvGraphicFramePr>
        <p:xfrm>
          <a:off xmlns:a="http://schemas.openxmlformats.org/drawingml/2006/main" x="1005840" y="3337560"/>
          <a:ext xmlns:a="http://schemas.openxmlformats.org/drawingml/2006/main" cx="5989320" cy="2560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c6cea705ab415d"/>
          </a:graphicData>
        </a:graphic>
      </p:graphicFrame>
    </p:spTree>
    <p:extLst>
      <p:ext uri="{BB962C8B-B14F-4D97-AF65-F5344CB8AC3E}">
        <p14:creationId xmlns:p14="http://schemas.microsoft.com/office/powerpoint/2010/main" val="1229253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5EBEB6-0680-4903-B7E0-22A7AC48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05  AI BUSINESS ANALYST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2D21A4-8BBD-4693-A1EF-8AAA1D1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Answers that show their evidence</a:t>
            </a:r>
            <a:endParaRPr sz="4000"/>
          </a:p>
        </p:txBody>
      </p:sp>
      <p:sp>
        <p:nvSpPr>
          <p:cNvPr id="4" name="Analyst card 1">
            <a:extLst xmlns:a="http://schemas.openxmlformats.org/drawingml/2006/main">
              <a:ext uri="{FF2B5EF4-FFF2-40B4-BE49-F238E27FC236}">
                <a16:creationId xmlns:a16="http://schemas.microsoft.com/office/drawing/2014/main" id="{AB3F0993-BAF7-4F9B-87E7-398928E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0536C0-2EB3-42CA-9B53-C27225E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Uses your data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34200C-5AB1-408C-B028-E317736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A built-in analyst grounds each answer in measured company metrics.</a:t>
            </a:r>
            <a:endParaRPr sz="1500"/>
          </a:p>
        </p:txBody>
      </p:sp>
      <p:sp>
        <p:nvSpPr>
          <p:cNvPr id="7" name="Analyst card 2">
            <a:extLst xmlns:a="http://schemas.openxmlformats.org/drawingml/2006/main">
              <a:ext uri="{FF2B5EF4-FFF2-40B4-BE49-F238E27FC236}">
                <a16:creationId xmlns:a16="http://schemas.microsoft.com/office/drawing/2014/main" id="{9CD799D7-3D84-41EF-A2EC-8BC0D25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B77949-1B83-458B-ABA0-53F4E19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Shows its evidence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487835-3689-4175-877D-4357FF8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Every response names its period, sources and available data coverage.</a:t>
            </a:r>
            <a:endParaRPr sz="1500"/>
          </a:p>
        </p:txBody>
      </p:sp>
      <p:sp>
        <p:nvSpPr>
          <p:cNvPr id="10" name="Analyst card 3">
            <a:extLst xmlns:a="http://schemas.openxmlformats.org/drawingml/2006/main">
              <a:ext uri="{FF2B5EF4-FFF2-40B4-BE49-F238E27FC236}">
                <a16:creationId xmlns:a16="http://schemas.microsoft.com/office/drawing/2014/main" id="{E3072101-69EA-417A-B5C3-A0CC905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EC551B-1BFF-43EC-A040-6396983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Admits its limits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7482861-0C80-4286-A619-7737153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It flags missing context instead of inventing a cause.</a:t>
            </a:r>
            <a:endParaRPr sz="1500"/>
          </a:p>
        </p:txBody>
      </p:sp>
      <p:sp>
        <p:nvSpPr>
          <p:cNvPr id="13" name="Chip Period: [PLACEHOLDER]">
            <a:extLst xmlns:a="http://schemas.openxmlformats.org/drawingml/2006/main">
              <a:ext uri="{FF2B5EF4-FFF2-40B4-BE49-F238E27FC236}">
                <a16:creationId xmlns:a16="http://schemas.microsoft.com/office/drawing/2014/main" id="{366FA54A-A8FF-466C-B81C-7B2ECE4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F9A5598-FA98-40DE-AA3B-76264FF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Period: Last 30 days</a:t>
            </a:r>
            <a:endParaRPr sz="1400"/>
          </a:p>
        </p:txBody>
      </p:sp>
      <p:sp>
        <p:nvSpPr>
          <p:cNvPr id="15" name="Chip Sources: [PLACEHOLDER]">
            <a:extLst xmlns:a="http://schemas.openxmlformats.org/drawingml/2006/main">
              <a:ext uri="{FF2B5EF4-FFF2-40B4-BE49-F238E27FC236}">
                <a16:creationId xmlns:a16="http://schemas.microsoft.com/office/drawing/2014/main" id="{F1D61E69-0D62-49BE-9CAF-F338724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85A893-50B9-4F8B-9DFD-BC96D28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Sources: Imported demo data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FE8AC17-C89B-4F16-B2E3-D5E2D70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2"/>
                </a:solidFill>
              </a:rPr>
              <a:t>Optional AI: OpenAI → Gemini fallback • streamed answers; built-in analyst always available.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C7FF21-BBDA-4B3C-B649-9E10446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6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067263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8FCE8-ABA8-4900-B2C3-4E27FD42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06  DEMO SCENARIO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44F5CA-FAB1-470F-B90E-CA0D5B88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Turn an alert into a reviewed next step</a:t>
            </a:r>
            <a:endParaRPr sz="3200"/>
          </a:p>
        </p:txBody>
      </p:sp>
      <p:sp>
        <p:nvSpPr>
          <p:cNvPr id="4" name="Demo step 1">
            <a:extLst xmlns:a="http://schemas.openxmlformats.org/drawingml/2006/main">
              <a:ext uri="{FF2B5EF4-FFF2-40B4-BE49-F238E27FC236}">
                <a16:creationId xmlns:a16="http://schemas.microsoft.com/office/drawing/2014/main" id="{F9410BAC-19BC-44F7-93EE-855005AF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90A3A7-090E-4D9A-866E-722F57D3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1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7545FB-1CA9-43D6-971E-072CFCCC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Load data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66DD324-99E4-4D33-9E1D-FDA8C75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a CSV file or sync Stripe in test mode.</a:t>
            </a:r>
            <a:endParaRPr sz="1400"/>
          </a:p>
        </p:txBody>
      </p:sp>
      <p:sp>
        <p:nvSpPr>
          <p:cNvPr id="8" name="Demo step 2">
            <a:extLst xmlns:a="http://schemas.openxmlformats.org/drawingml/2006/main">
              <a:ext uri="{FF2B5EF4-FFF2-40B4-BE49-F238E27FC236}">
                <a16:creationId xmlns:a16="http://schemas.microsoft.com/office/drawing/2014/main" id="{57528D47-5277-4DFA-BE9E-9101BE7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582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3529AB-54E5-4F71-AB61-DB2CFD8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02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2</a:t>
            </a:r>
            <a:endParaRPr sz="4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CAE157-A2CE-44B2-A2AE-0C82A64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02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Open dashboard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D79C23-1BAA-4226-960D-AF3AEBC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02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Review revenue, orders, customers, products and stock.</a:t>
            </a:r>
            <a:endParaRPr sz="1400"/>
          </a:p>
        </p:txBody>
      </p:sp>
      <p:sp>
        <p:nvSpPr>
          <p:cNvPr id="12" name="Demo step 3">
            <a:extLst xmlns:a="http://schemas.openxmlformats.org/drawingml/2006/main">
              <a:ext uri="{FF2B5EF4-FFF2-40B4-BE49-F238E27FC236}">
                <a16:creationId xmlns:a16="http://schemas.microsoft.com/office/drawing/2014/main" id="{ADAD8A25-0A1E-45D8-90C1-1A2447D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204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B9532E-59FC-4A87-879E-E4CB515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3</a:t>
            </a:r>
            <a:endParaRPr sz="4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8F5528-9499-4C4C-A95F-3814F1AF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Show an alert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71975E-63A2-4EDD-BC85-E4FAD345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Open a low-stock or cancellation alert and inspect its evidence.</a:t>
            </a:r>
            <a:endParaRPr sz="1400"/>
          </a:p>
        </p:txBody>
      </p:sp>
      <p:sp>
        <p:nvSpPr>
          <p:cNvPr id="16" name="Demo step 4">
            <a:extLst xmlns:a="http://schemas.openxmlformats.org/drawingml/2006/main">
              <a:ext uri="{FF2B5EF4-FFF2-40B4-BE49-F238E27FC236}">
                <a16:creationId xmlns:a16="http://schemas.microsoft.com/office/drawing/2014/main" id="{8D416263-A743-47D7-A7EE-77E77A8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826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FA6584-B6C3-46D1-A830-3133A0D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146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4</a:t>
            </a:r>
            <a:endParaRPr sz="4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90E536-F9D7-4288-BF35-5AF3A93C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146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Ask the analyst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6AC5086-994B-4D42-B702-D267E12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146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Ask: “Is our top product at risk of running out of stock?”</a:t>
            </a:r>
            <a:endParaRPr sz="1400"/>
          </a:p>
        </p:txBody>
      </p:sp>
      <p:sp>
        <p:nvSpPr>
          <p:cNvPr id="20" name="Demo bar">
            <a:extLst xmlns:a="http://schemas.openxmlformats.org/drawingml/2006/main">
              <a:ext uri="{FF2B5EF4-FFF2-40B4-BE49-F238E27FC236}">
                <a16:creationId xmlns:a16="http://schemas.microsoft.com/office/drawing/2014/main" id="{30AD6DC0-31E6-4E5A-928C-3B9EAEB9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56132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1EC4D74-44B6-4E89-8A08-E035B3E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83480"/>
            <a:ext cx="99212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>
                <a:solidFill>
                  <a:schemeClr val="accent3"/>
                </a:solidFill>
              </a:rPr>
              <a:t>Then prepare a suggested reorder quantity for review. A manager decides whether to place an order.</a:t>
            </a:r>
            <a:endParaRPr sz="18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A7BDB6"/>
                </a:solidFill>
              </a:rPr>
              <a:t>Stripe is in test mode; the sample dashboard uses imported CSV data.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027C401-47A3-4BDE-9627-1AB42C4F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7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75052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533112-CDDC-40E2-9C6E-FB9FFB3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07  SECURITY AND TEAMWORK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C5808F-CBD1-4853-99A8-A455655D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Separate workspaces, clear roles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413692-D7DB-4E01-BE4B-6C898D7B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3B2739-3F5F-47C9-8243-28510DC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6888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Workspace isolation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E83CF1-5143-40FD-9C0C-6DDEB7AD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1635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Each company's data lives in its own separate workspace.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40987E5-46F7-47FB-8175-3B9E355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038FC4-A2FC-47E3-8482-2375D629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Manager and viewer roles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1ACC09-A911-4112-9A79-AB6F7121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7647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Two roles control what each person can do.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796791-AFDF-4156-A44D-16425C0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8912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2E5697-05FB-43C9-A529-4B4E8E4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8912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Team invitations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4F34A2-A3A6-4D3D-AA44-1EB76D57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73659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Invite teammates into the company workspace.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A0B00B3-EC04-4A07-BD6F-983F1DA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3965B5-3005-4B22-99B1-7AEC9B8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4924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Activity &amp; audit log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DF160B-3045-44B1-AD82-B9F26F1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9671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Review sign-ins, team changes and ingestion runs in one timeline.</a:t>
            </a:r>
            <a:endParaRPr sz="1400"/>
          </a:p>
        </p:txBody>
      </p:sp>
      <p:sp>
        <p:nvSpPr>
          <p:cNvPr id="16" name="Isolation card">
            <a:extLst xmlns:a="http://schemas.openxmlformats.org/drawingml/2006/main">
              <a:ext uri="{FF2B5EF4-FFF2-40B4-BE49-F238E27FC236}">
                <a16:creationId xmlns:a16="http://schemas.microsoft.com/office/drawing/2014/main" id="{968E021E-8F75-466F-91BB-2A49DC82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4562856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A9D622B-AA60-4F09-8489-603E6A36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51760"/>
            <a:ext cx="1920240" cy="25146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157733-CEB5-4BB7-BE8D-76AE42F5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8892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Company A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4E0370B-1ED9-44F5-BCEA-AB29DDE0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10896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Own workspace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186326E-3A2E-46D9-AE51-3AA88FEC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52044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FF9A6B-0F1E-4EB2-9A3A-5915F7D2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52044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Manager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023BA7A-778B-4798-A4DC-EF944A8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2336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6F4A15-4079-4A12-B4E9-CC389C2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2336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Viewer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93CAC75-DC43-404E-8BFA-8B5061B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61772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accent3"/>
                </a:solidFill>
              </a:rPr>
              <a:t>Own data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B2AFCE7-7CEC-49E8-8D90-F6967676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51760"/>
            <a:ext cx="1920240" cy="25146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4A78F8-D6C3-4F8A-BDD6-7E8A129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8892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Company B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79438DA-5E0C-4D92-8ABB-64BCBE22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10896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Own workspace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D10E2A1-5439-4DFE-92D4-24247814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52044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8D3CC43-24FD-4857-8963-F3A8FBA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52044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Manager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611076-4FCB-44AE-BC44-B147B67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02336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E92512-35DB-4E77-AA9B-80FBF36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02336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Viewer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5884D2-F88C-4B5C-A5B7-95295CE5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61772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accent3"/>
                </a:solidFill>
              </a:rPr>
              <a:t>Own data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9EBA1E3-A04F-451C-8D28-C661426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94960"/>
            <a:ext cx="4014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Illustration of workspace isolation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D2E0741-A763-4839-98A6-1B5A6BF0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8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174443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87466-B91D-4484-BE08-C3DBDB4C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08  VALUE AND ROADMAP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28BE5E-B9F5-4DB4-9E3C-D1A42F7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More context. Clearer actions.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0B471A-15C3-432C-9D0A-C8CE9A3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PRODUCT CAPABILITIES</a:t>
            </a:r>
            <a:endParaRPr sz="1200"/>
          </a:p>
        </p:txBody>
      </p:sp>
      <p:sp>
        <p:nvSpPr>
          <p:cNvPr id="5" name="Benefit 1">
            <a:extLst xmlns:a="http://schemas.openxmlformats.org/drawingml/2006/main">
              <a:ext uri="{FF2B5EF4-FFF2-40B4-BE49-F238E27FC236}">
                <a16:creationId xmlns:a16="http://schemas.microsoft.com/office/drawing/2014/main" id="{81DE9277-FB5A-40F2-BB5F-2B56BC36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3B4C7B-142E-402F-995B-74772B2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Currency conversion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1C89D86-252C-4517-A426-7EF2EFA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Convert supported source currencies to USD using daily reference rates.</a:t>
            </a:r>
            <a:endParaRPr sz="1500"/>
          </a:p>
        </p:txBody>
      </p:sp>
      <p:sp>
        <p:nvSpPr>
          <p:cNvPr id="8" name="Benefit 2">
            <a:extLst xmlns:a="http://schemas.openxmlformats.org/drawingml/2006/main">
              <a:ext uri="{FF2B5EF4-FFF2-40B4-BE49-F238E27FC236}">
                <a16:creationId xmlns:a16="http://schemas.microsoft.com/office/drawing/2014/main" id="{7B573A07-2E55-45B9-B709-78A5D57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1F716D-F014-44B0-A397-CB305EA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Customer segments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2B14BC-BA38-4E11-A767-2C08D05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Group customers by recency, frequency and value; get actions for each segment.</a:t>
            </a:r>
            <a:endParaRPr sz="1500"/>
          </a:p>
        </p:txBody>
      </p:sp>
      <p:sp>
        <p:nvSpPr>
          <p:cNvPr id="11" name="Benefit 3">
            <a:extLst xmlns:a="http://schemas.openxmlformats.org/drawingml/2006/main">
              <a:ext uri="{FF2B5EF4-FFF2-40B4-BE49-F238E27FC236}">
                <a16:creationId xmlns:a16="http://schemas.microsoft.com/office/drawing/2014/main" id="{CC1ADDE3-94A6-497D-9181-E30967C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AFF867-35ED-4C9D-B915-8DB4903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Exports + restock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A56ECD1-A0EF-462B-83F7-544411B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Download Excel or PDF, and prepare a reorder draft for manager review.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067DA5-09C7-4255-8C18-68E30F83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A PRACTICAL PATH FORWARD</a:t>
            </a:r>
            <a:endParaRPr sz="1200"/>
          </a:p>
        </p:txBody>
      </p:sp>
      <p:sp>
        <p:nvSpPr>
          <p:cNvPr id="15" name="Next step 1">
            <a:extLst xmlns:a="http://schemas.openxmlformats.org/drawingml/2006/main">
              <a:ext uri="{FF2B5EF4-FFF2-40B4-BE49-F238E27FC236}">
                <a16:creationId xmlns:a16="http://schemas.microsoft.com/office/drawing/2014/main" id="{188138D5-3DFF-4398-84FE-9C3A46C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D56349-4801-4ACB-B86F-7629466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Start with a small pilot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E170C3-06AC-49DB-93F4-8F2EDF5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Connect a few real data sources and validate the workflow.</a:t>
            </a:r>
            <a:endParaRPr sz="1500"/>
          </a:p>
        </p:txBody>
      </p:sp>
      <p:sp>
        <p:nvSpPr>
          <p:cNvPr id="18" name="Next step 2">
            <a:extLst xmlns:a="http://schemas.openxmlformats.org/drawingml/2006/main">
              <a:ext uri="{FF2B5EF4-FFF2-40B4-BE49-F238E27FC236}">
                <a16:creationId xmlns:a16="http://schemas.microsoft.com/office/drawing/2014/main" id="{3DB2BE8A-D3A4-49D3-9445-91BCDBE3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25D879A-7E78-4474-942E-433ECCE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Measure what changes</a:t>
            </a:r>
            <a:endParaRPr sz="1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E1502D6-DA1F-4DFC-A39B-9C8E969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Track decision time, repeat purchases and stockouts with the team.</a:t>
            </a:r>
            <a:endParaRPr sz="1500"/>
          </a:p>
        </p:txBody>
      </p:sp>
      <p:sp>
        <p:nvSpPr>
          <p:cNvPr id="21" name="Next step 3">
            <a:extLst xmlns:a="http://schemas.openxmlformats.org/drawingml/2006/main">
              <a:ext uri="{FF2B5EF4-FFF2-40B4-BE49-F238E27FC236}">
                <a16:creationId xmlns:a16="http://schemas.microsoft.com/office/drawing/2014/main" id="{360DD1C0-46FE-4E25-A54C-BDAE514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B9BE5A-8A2C-4CDA-A87B-65DFA30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Harden before scale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51A86F-688F-4769-AF9F-6F7CDC9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Review security, data quality and provider costs before live rollout.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20AC977-F820-40A9-806D-D2D37CF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9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44711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4C206C-8E46-4908-A7E9-96BB4A2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09  CLOSING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CAF34-717C-4E7F-B294-DFB5EC5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See the signal. Choose the next move.</a:t>
            </a:r>
            <a:endParaRPr sz="4000"/>
          </a:p>
        </p:txBody>
      </p:sp>
      <p:sp>
        <p:nvSpPr>
          <p:cNvPr id="4" name="Ask card 1">
            <a:extLst xmlns:a="http://schemas.openxmlformats.org/drawingml/2006/main">
              <a:ext uri="{FF2B5EF4-FFF2-40B4-BE49-F238E27FC236}">
                <a16:creationId xmlns:a16="http://schemas.microsoft.com/office/drawing/2014/main" id="{E1BEB69B-54B1-43E4-B193-8DE2EEE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CE4ED4-2046-4553-A149-2DB7CA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Explore the dashboard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97AE29-B93B-4663-8937-9942F7F5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Review performance, customer segments and inventory risk from your company data.</a:t>
            </a:r>
            <a:endParaRPr sz="1500"/>
          </a:p>
        </p:txBody>
      </p:sp>
      <p:sp>
        <p:nvSpPr>
          <p:cNvPr id="7" name="Ask card 2">
            <a:extLst xmlns:a="http://schemas.openxmlformats.org/drawingml/2006/main">
              <a:ext uri="{FF2B5EF4-FFF2-40B4-BE49-F238E27FC236}">
                <a16:creationId xmlns:a16="http://schemas.microsoft.com/office/drawing/2014/main" id="{007BB93B-5E87-4042-B552-0DEBD30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1A1593-56F3-49E2-AB2E-702681A5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Ask the analyst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8727529-BD00-4B34-9DDE-8608B82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Get streamed, evidence-based answers with clear limits.</a:t>
            </a:r>
            <a:endParaRPr sz="1500"/>
          </a:p>
        </p:txBody>
      </p:sp>
      <p:sp>
        <p:nvSpPr>
          <p:cNvPr id="10" name="Ask card 3">
            <a:extLst xmlns:a="http://schemas.openxmlformats.org/drawingml/2006/main">
              <a:ext uri="{FF2B5EF4-FFF2-40B4-BE49-F238E27FC236}">
                <a16:creationId xmlns:a16="http://schemas.microsoft.com/office/drawing/2014/main" id="{ED44FCF7-46CB-4274-A0F2-CFA7032E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22A1E-4468-4B63-803B-3C3ACE8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Take a closer look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A2B956-7BBB-4342-8E00-3419AD7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Open the live demo and explore the project.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67707B8-8C04-46BD-A856-64E0B52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5196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accent2"/>
                </a:solidFill>
              </a:rPr>
              <a:t>Clearview BI. See your business clearly.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4620C8-6D13-4348-9E61-9E12EAE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61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Basmala Azab  |  Sara Basem  |  Shahd Elgouhary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68DB7F7-3418-4F1E-98BF-E89B489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Demo materials: https://drive.google.com/drive/folders/1Tt_gjh2BhU9H3v-cLi4IyI7QRTdyaRDh?usp=sharing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Source code: https://github.com/basmalaazab/Clearview-BI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2A882A-AE52-4F06-B02B-D4F208F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10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64021911"/>
      </p:ext>
    </p:extLst>
  </p:cSld>
</p:sld>
</file>

<file path=ppt/theme/theme1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2026-10-09T01:41:47.1910000Z</dcterms:created>
  <dcterms:modified xsi:type="dcterms:W3CDTF">2026-10-09T01:41:47.1910000Z</dcterms:modified>
</coreProperties>
</file>